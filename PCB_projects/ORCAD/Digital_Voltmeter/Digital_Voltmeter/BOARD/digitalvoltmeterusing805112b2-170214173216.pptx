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1"/>
  </p:notesMasterIdLst>
  <p:sldIdLst>
    <p:sldId id="256" r:id="rId3"/>
    <p:sldId id="264" r:id="rId4"/>
    <p:sldId id="259" r:id="rId5"/>
    <p:sldId id="257" r:id="rId6"/>
    <p:sldId id="269" r:id="rId7"/>
    <p:sldId id="275" r:id="rId8"/>
    <p:sldId id="270" r:id="rId9"/>
    <p:sldId id="287" r:id="rId10"/>
    <p:sldId id="288" r:id="rId11"/>
    <p:sldId id="289" r:id="rId12"/>
    <p:sldId id="290" r:id="rId13"/>
    <p:sldId id="273" r:id="rId14"/>
    <p:sldId id="274" r:id="rId15"/>
    <p:sldId id="277" r:id="rId16"/>
    <p:sldId id="278" r:id="rId17"/>
    <p:sldId id="279" r:id="rId18"/>
    <p:sldId id="280" r:id="rId19"/>
    <p:sldId id="281" r:id="rId20"/>
    <p:sldId id="286" r:id="rId21"/>
    <p:sldId id="263" r:id="rId22"/>
    <p:sldId id="268" r:id="rId23"/>
    <p:sldId id="291" r:id="rId24"/>
    <p:sldId id="292" r:id="rId25"/>
    <p:sldId id="293" r:id="rId26"/>
    <p:sldId id="298" r:id="rId27"/>
    <p:sldId id="261" r:id="rId28"/>
    <p:sldId id="262" r:id="rId29"/>
    <p:sldId id="300" r:id="rId30"/>
    <p:sldId id="294" r:id="rId31"/>
    <p:sldId id="265" r:id="rId32"/>
    <p:sldId id="304" r:id="rId33"/>
    <p:sldId id="267" r:id="rId34"/>
    <p:sldId id="266" r:id="rId35"/>
    <p:sldId id="305" r:id="rId36"/>
    <p:sldId id="306" r:id="rId37"/>
    <p:sldId id="307" r:id="rId38"/>
    <p:sldId id="309" r:id="rId39"/>
    <p:sldId id="310" r:id="rId40"/>
    <p:sldId id="308" r:id="rId41"/>
    <p:sldId id="311" r:id="rId42"/>
    <p:sldId id="312" r:id="rId43"/>
    <p:sldId id="313" r:id="rId44"/>
    <p:sldId id="314" r:id="rId45"/>
    <p:sldId id="315" r:id="rId46"/>
    <p:sldId id="316" r:id="rId47"/>
    <p:sldId id="317" r:id="rId48"/>
    <p:sldId id="284" r:id="rId49"/>
    <p:sldId id="28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sh khant"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9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0942E-E866-462C-912F-5F90A5766346}" type="datetimeFigureOut">
              <a:rPr lang="en-IN" smtClean="0"/>
              <a:t>14-02-2017</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989ED-D6E1-4C01-9A6E-18A6A82D43AD}" type="slidenum">
              <a:rPr lang="en-IN" smtClean="0"/>
              <a:t>‹#›</a:t>
            </a:fld>
            <a:endParaRPr lang="en-IN"/>
          </a:p>
        </p:txBody>
      </p:sp>
    </p:spTree>
    <p:extLst>
      <p:ext uri="{BB962C8B-B14F-4D97-AF65-F5344CB8AC3E}">
        <p14:creationId xmlns:p14="http://schemas.microsoft.com/office/powerpoint/2010/main" val="664169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4F0FFF7-8B20-461E-BE57-2FB8A1EA36E1}" type="slidenum">
              <a:rPr lang="en-IN" smtClean="0"/>
              <a:t>12</a:t>
            </a:fld>
            <a:endParaRPr lang="en-IN"/>
          </a:p>
        </p:txBody>
      </p:sp>
    </p:spTree>
    <p:extLst>
      <p:ext uri="{BB962C8B-B14F-4D97-AF65-F5344CB8AC3E}">
        <p14:creationId xmlns:p14="http://schemas.microsoft.com/office/powerpoint/2010/main" val="65654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5D63432-CE96-40A7-B729-C71ABC9CEC62}"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10792692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D63432-CE96-40A7-B729-C71ABC9CEC62}"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9956165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5D63432-CE96-40A7-B729-C71ABC9CEC62}"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7087943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5D63432-CE96-40A7-B729-C71ABC9CEC62}" type="datetimeFigureOut">
              <a:rPr lang="en-IN" smtClean="0"/>
              <a:t>14-02-2017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3601856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5D63432-CE96-40A7-B729-C71ABC9CEC62}" type="datetimeFigureOut">
              <a:rPr lang="en-IN" smtClean="0"/>
              <a:t>14-02-2017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3528662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5D63432-CE96-40A7-B729-C71ABC9CEC62}" type="datetimeFigureOut">
              <a:rPr lang="en-IN" smtClean="0"/>
              <a:t>14-02-2017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26718028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D63432-CE96-40A7-B729-C71ABC9CEC62}" type="datetimeFigureOut">
              <a:rPr lang="en-IN" smtClean="0"/>
              <a:t>14-02-2017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7820008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D63432-CE96-40A7-B729-C71ABC9CEC62}" type="datetimeFigureOut">
              <a:rPr lang="en-IN" smtClean="0"/>
              <a:t>14-02-2017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17852249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D63432-CE96-40A7-B729-C71ABC9CEC62}" type="datetimeFigureOut">
              <a:rPr lang="en-IN" smtClean="0"/>
              <a:t>14-02-2017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40938226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D63432-CE96-40A7-B729-C71ABC9CEC62}"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889433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D63432-CE96-40A7-B729-C71ABC9CEC62}"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EF96-E814-4A0E-9536-08E8283D7169}" type="slidenum">
              <a:rPr lang="en-IN" smtClean="0"/>
              <a:t>‹#›</a:t>
            </a:fld>
            <a:endParaRPr lang="en-IN"/>
          </a:p>
        </p:txBody>
      </p:sp>
    </p:spTree>
    <p:extLst>
      <p:ext uri="{BB962C8B-B14F-4D97-AF65-F5344CB8AC3E}">
        <p14:creationId xmlns:p14="http://schemas.microsoft.com/office/powerpoint/2010/main" val="4122253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2DEF21A-B6E0-4FA2-BDD6-E17904126DF5}"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383205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2DEF21A-B6E0-4FA2-BDD6-E17904126DF5}"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28498390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DEF21A-B6E0-4FA2-BDD6-E17904126DF5}"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3232909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extLst mod="1">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2DEF21A-B6E0-4FA2-BDD6-E17904126DF5}" type="datetimeFigureOut">
              <a:rPr lang="en-IN" smtClean="0"/>
              <a:t>14-02-2017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15541412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2DEF21A-B6E0-4FA2-BDD6-E17904126DF5}" type="datetimeFigureOut">
              <a:rPr lang="en-IN" smtClean="0"/>
              <a:t>14-02-2017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42192599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2DEF21A-B6E0-4FA2-BDD6-E17904126DF5}" type="datetimeFigureOut">
              <a:rPr lang="en-IN" smtClean="0"/>
              <a:t>14-02-2017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31697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DEF21A-B6E0-4FA2-BDD6-E17904126DF5}" type="datetimeFigureOut">
              <a:rPr lang="en-IN" smtClean="0"/>
              <a:t>14-02-2017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27799861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2DEF21A-B6E0-4FA2-BDD6-E17904126DF5}" type="datetimeFigureOut">
              <a:rPr lang="en-IN" smtClean="0"/>
              <a:t>14-02-2017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20244807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2DEF21A-B6E0-4FA2-BDD6-E17904126DF5}" type="datetimeFigureOut">
              <a:rPr lang="en-IN" smtClean="0"/>
              <a:t>14-02-2017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31443152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2DEF21A-B6E0-4FA2-BDD6-E17904126DF5}"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3584675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2DEF21A-B6E0-4FA2-BDD6-E17904126DF5}" type="datetimeFigureOut">
              <a:rPr lang="en-IN" smtClean="0"/>
              <a:t>14-02-2017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D624CC-EF0E-44C2-93F4-546A22009543}" type="slidenum">
              <a:rPr lang="en-IN" smtClean="0"/>
              <a:t>‹#›</a:t>
            </a:fld>
            <a:endParaRPr lang="en-IN"/>
          </a:p>
        </p:txBody>
      </p:sp>
    </p:spTree>
    <p:extLst>
      <p:ext uri="{BB962C8B-B14F-4D97-AF65-F5344CB8AC3E}">
        <p14:creationId xmlns:p14="http://schemas.microsoft.com/office/powerpoint/2010/main" val="287919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D63432-CE96-40A7-B729-C71ABC9CEC62}" type="datetimeFigureOut">
              <a:rPr lang="en-IN" smtClean="0"/>
              <a:t>14-02-2017</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F3EF96-E814-4A0E-9536-08E8283D7169}" type="slidenum">
              <a:rPr lang="en-IN" smtClean="0"/>
              <a:t>‹#›</a:t>
            </a:fld>
            <a:endParaRPr lang="en-IN"/>
          </a:p>
        </p:txBody>
      </p:sp>
    </p:spTree>
    <p:extLst>
      <p:ext uri="{BB962C8B-B14F-4D97-AF65-F5344CB8AC3E}">
        <p14:creationId xmlns:p14="http://schemas.microsoft.com/office/powerpoint/2010/main" val="2980029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DEF21A-B6E0-4FA2-BDD6-E17904126DF5}" type="datetimeFigureOut">
              <a:rPr lang="en-IN" smtClean="0"/>
              <a:t>14-02-2017</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D624CC-EF0E-44C2-93F4-546A22009543}" type="slidenum">
              <a:rPr lang="en-IN" smtClean="0"/>
              <a:t>‹#›</a:t>
            </a:fld>
            <a:endParaRPr lang="en-IN"/>
          </a:p>
        </p:txBody>
      </p:sp>
    </p:spTree>
    <p:extLst>
      <p:ext uri="{BB962C8B-B14F-4D97-AF65-F5344CB8AC3E}">
        <p14:creationId xmlns:p14="http://schemas.microsoft.com/office/powerpoint/2010/main" val="2985946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circuitstoday.com/wp-content/uploads/2011/12/8051-pin-diagram.jpg"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www.goodreads.com/author/show/113691.Janice_Gillispie_Mazidi" TargetMode="External"/><Relationship Id="rId2" Type="http://schemas.openxmlformats.org/officeDocument/2006/relationships/hyperlink" Target="http://www.goodreads.com/author/show/113686.Muhammad_Ali_Mazidi" TargetMode="Externa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7001" y="2160164"/>
            <a:ext cx="11503742" cy="1009734"/>
          </a:xfrm>
        </p:spPr>
        <p:txBody>
          <a:bodyPr anchor="ctr">
            <a:noAutofit/>
          </a:bodyPr>
          <a:lstStyle/>
          <a:p>
            <a:pPr algn="ctr"/>
            <a:r>
              <a:rPr lang="en-IN" sz="3200" b="1" u="sng" dirty="0">
                <a:solidFill>
                  <a:srgbClr val="00B050"/>
                </a:solidFill>
                <a:latin typeface="Calibri" panose="020F0502020204030204" pitchFamily="34" charset="0"/>
              </a:rPr>
              <a:t>DIGITAL VOLTMETER USING 8051 </a:t>
            </a:r>
            <a:br>
              <a:rPr lang="en-IN" sz="3200" b="1" u="sng" dirty="0">
                <a:solidFill>
                  <a:srgbClr val="00B050"/>
                </a:solidFill>
                <a:latin typeface="Calibri" panose="020F0502020204030204" pitchFamily="34" charset="0"/>
              </a:rPr>
            </a:br>
            <a:r>
              <a:rPr lang="en-IN" sz="3200" b="1" u="sng" dirty="0">
                <a:solidFill>
                  <a:srgbClr val="00B050"/>
                </a:solidFill>
                <a:latin typeface="Calibri" panose="020F0502020204030204" pitchFamily="34" charset="0"/>
              </a:rPr>
              <a:t>MICRO CONTROLLER</a:t>
            </a:r>
          </a:p>
        </p:txBody>
      </p:sp>
    </p:spTree>
    <p:extLst>
      <p:ext uri="{BB962C8B-B14F-4D97-AF65-F5344CB8AC3E}">
        <p14:creationId xmlns:p14="http://schemas.microsoft.com/office/powerpoint/2010/main" val="3382674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65" y="0"/>
            <a:ext cx="11518489" cy="1195754"/>
          </a:xfrm>
        </p:spPr>
        <p:txBody>
          <a:bodyPr>
            <a:normAutofit/>
          </a:bodyPr>
          <a:lstStyle/>
          <a:p>
            <a:pPr algn="ctr"/>
            <a:r>
              <a:rPr lang="en-IN" sz="2800" b="1" dirty="0" smtClean="0">
                <a:solidFill>
                  <a:srgbClr val="0070C0"/>
                </a:solidFill>
                <a:latin typeface="+mn-lt"/>
              </a:rPr>
              <a:t>CONTENT-1</a:t>
            </a:r>
            <a:endParaRPr lang="en-IN" sz="2800" b="1" dirty="0">
              <a:solidFill>
                <a:srgbClr val="0070C0"/>
              </a:solidFill>
              <a:latin typeface="+mn-lt"/>
            </a:endParaRPr>
          </a:p>
        </p:txBody>
      </p:sp>
      <p:sp>
        <p:nvSpPr>
          <p:cNvPr id="3" name="Content Placeholder 2"/>
          <p:cNvSpPr>
            <a:spLocks noGrp="1"/>
          </p:cNvSpPr>
          <p:nvPr>
            <p:ph idx="1"/>
          </p:nvPr>
        </p:nvSpPr>
        <p:spPr>
          <a:xfrm>
            <a:off x="324465" y="1195754"/>
            <a:ext cx="11518489" cy="5106571"/>
          </a:xfrm>
        </p:spPr>
        <p:txBody>
          <a:bodyPr anchor="t">
            <a:normAutofit/>
          </a:bodyPr>
          <a:lstStyle/>
          <a:p>
            <a:pPr>
              <a:buFont typeface="Arial" panose="020B0604020202020204" pitchFamily="34" charset="0"/>
              <a:buChar char="•"/>
            </a:pPr>
            <a:r>
              <a:rPr lang="en-IN" sz="2400" b="1" dirty="0">
                <a:solidFill>
                  <a:srgbClr val="00B050"/>
                </a:solidFill>
              </a:rPr>
              <a:t>INTRODUCTION</a:t>
            </a:r>
          </a:p>
          <a:p>
            <a:pPr>
              <a:buFont typeface="Arial" panose="020B0604020202020204" pitchFamily="34" charset="0"/>
              <a:buChar char="•"/>
            </a:pPr>
            <a:r>
              <a:rPr lang="en-IN" sz="2400" b="1" dirty="0">
                <a:solidFill>
                  <a:srgbClr val="00B050"/>
                </a:solidFill>
              </a:rPr>
              <a:t>DIGITAL VOLTMETER</a:t>
            </a:r>
          </a:p>
          <a:p>
            <a:pPr>
              <a:buFont typeface="Arial" panose="020B0604020202020204" pitchFamily="34" charset="0"/>
              <a:buChar char="•"/>
            </a:pPr>
            <a:r>
              <a:rPr lang="en-IN" sz="2400" b="1" dirty="0">
                <a:solidFill>
                  <a:srgbClr val="00B050"/>
                </a:solidFill>
              </a:rPr>
              <a:t>MICROCONTROLLER</a:t>
            </a:r>
          </a:p>
          <a:p>
            <a:pPr>
              <a:buFont typeface="Arial" panose="020B0604020202020204" pitchFamily="34" charset="0"/>
              <a:buChar char="•"/>
            </a:pPr>
            <a:r>
              <a:rPr lang="en-IN" sz="2400" b="1" dirty="0">
                <a:solidFill>
                  <a:srgbClr val="00B050"/>
                </a:solidFill>
              </a:rPr>
              <a:t>CIRCUIT DIAGRAM OF DIGITAL VOLMETER</a:t>
            </a:r>
          </a:p>
          <a:p>
            <a:pPr>
              <a:buFont typeface="Arial" panose="020B0604020202020204" pitchFamily="34" charset="0"/>
              <a:buChar char="•"/>
            </a:pPr>
            <a:r>
              <a:rPr lang="en-IN" sz="2400" b="1" dirty="0">
                <a:solidFill>
                  <a:srgbClr val="00B050"/>
                </a:solidFill>
              </a:rPr>
              <a:t>COMPONENTS REQUIRED IN THE CIRCUIT</a:t>
            </a:r>
          </a:p>
          <a:p>
            <a:pPr>
              <a:buFont typeface="Arial" panose="020B0604020202020204" pitchFamily="34" charset="0"/>
              <a:buChar char="•"/>
            </a:pPr>
            <a:r>
              <a:rPr lang="en-IN" sz="2400" b="1" dirty="0">
                <a:solidFill>
                  <a:srgbClr val="00B050"/>
                </a:solidFill>
              </a:rPr>
              <a:t>ADC 0804</a:t>
            </a:r>
          </a:p>
          <a:p>
            <a:pPr>
              <a:buFont typeface="Arial" panose="020B0604020202020204" pitchFamily="34" charset="0"/>
              <a:buChar char="•"/>
            </a:pPr>
            <a:r>
              <a:rPr lang="en-IN" sz="2400" b="1" dirty="0">
                <a:solidFill>
                  <a:srgbClr val="00B050"/>
                </a:solidFill>
              </a:rPr>
              <a:t>SUCCESSIVE TYPE ADC</a:t>
            </a:r>
          </a:p>
          <a:p>
            <a:pPr>
              <a:buFont typeface="Arial" panose="020B0604020202020204" pitchFamily="34" charset="0"/>
              <a:buChar char="•"/>
            </a:pPr>
            <a:r>
              <a:rPr lang="en-IN" sz="2400" b="1" dirty="0">
                <a:solidFill>
                  <a:srgbClr val="00B050"/>
                </a:solidFill>
              </a:rPr>
              <a:t>LCD DISPLAY</a:t>
            </a:r>
          </a:p>
          <a:p>
            <a:pPr>
              <a:buFont typeface="Arial" panose="020B0604020202020204" pitchFamily="34" charset="0"/>
              <a:buChar char="•"/>
            </a:pPr>
            <a:r>
              <a:rPr lang="en-IN" sz="2400" b="1" dirty="0">
                <a:solidFill>
                  <a:srgbClr val="00B050"/>
                </a:solidFill>
              </a:rPr>
              <a:t>TOPICS TO BE COVERED IN NEXT REVIEW</a:t>
            </a:r>
          </a:p>
          <a:p>
            <a:pPr>
              <a:buFont typeface="Arial" panose="020B0604020202020204" pitchFamily="34" charset="0"/>
              <a:buChar char="•"/>
            </a:pPr>
            <a:r>
              <a:rPr lang="en-IN" sz="2400" b="1" dirty="0">
                <a:solidFill>
                  <a:srgbClr val="00B050"/>
                </a:solidFill>
              </a:rPr>
              <a:t>REFERENCES</a:t>
            </a:r>
          </a:p>
          <a:p>
            <a:pPr>
              <a:buFont typeface="Arial" panose="020B0604020202020204" pitchFamily="34" charset="0"/>
              <a:buChar char="•"/>
            </a:pPr>
            <a:endParaRPr lang="en-IN" b="1" dirty="0">
              <a:solidFill>
                <a:srgbClr val="0070C0"/>
              </a:solidFill>
            </a:endParaRPr>
          </a:p>
          <a:p>
            <a:pPr>
              <a:buFont typeface="Arial" panose="020B0604020202020204" pitchFamily="34" charset="0"/>
              <a:buChar char="•"/>
            </a:pPr>
            <a:endParaRPr lang="en-IN" b="1" dirty="0"/>
          </a:p>
          <a:p>
            <a:pPr>
              <a:buFont typeface="Arial" panose="020B0604020202020204" pitchFamily="34" charset="0"/>
              <a:buChar char="•"/>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489973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IN" sz="2800" b="1" dirty="0" smtClean="0">
                <a:solidFill>
                  <a:srgbClr val="0070C0"/>
                </a:solidFill>
                <a:latin typeface="+mn-lt"/>
              </a:rPr>
              <a:t>CONTENT-2</a:t>
            </a:r>
            <a:endParaRPr lang="en-IN" sz="2800" b="1" dirty="0">
              <a:solidFill>
                <a:srgbClr val="0070C0"/>
              </a:solidFill>
              <a:latin typeface="+mn-lt"/>
            </a:endParaRPr>
          </a:p>
        </p:txBody>
      </p:sp>
      <p:sp>
        <p:nvSpPr>
          <p:cNvPr id="3" name="Content Placeholder 2"/>
          <p:cNvSpPr>
            <a:spLocks noGrp="1"/>
          </p:cNvSpPr>
          <p:nvPr>
            <p:ph idx="1"/>
          </p:nvPr>
        </p:nvSpPr>
        <p:spPr>
          <a:xfrm>
            <a:off x="838200" y="1325562"/>
            <a:ext cx="10515600" cy="5075237"/>
          </a:xfrm>
        </p:spPr>
        <p:txBody>
          <a:bodyPr>
            <a:normAutofit/>
          </a:bodyPr>
          <a:lstStyle/>
          <a:p>
            <a:r>
              <a:rPr lang="en-IN" sz="2400" b="1" dirty="0" smtClean="0">
                <a:solidFill>
                  <a:srgbClr val="00B050"/>
                </a:solidFill>
              </a:rPr>
              <a:t>ADC0804 INTERFACING</a:t>
            </a:r>
          </a:p>
          <a:p>
            <a:r>
              <a:rPr lang="en-IN" sz="2400" b="1" dirty="0" smtClean="0">
                <a:solidFill>
                  <a:srgbClr val="00B050"/>
                </a:solidFill>
              </a:rPr>
              <a:t>ADC0804 PIN DESCRIPTION</a:t>
            </a:r>
          </a:p>
          <a:p>
            <a:r>
              <a:rPr lang="en-IN" sz="2400" b="1" dirty="0" smtClean="0">
                <a:solidFill>
                  <a:srgbClr val="00B050"/>
                </a:solidFill>
              </a:rPr>
              <a:t>ADC0804 TIMING DIAGRAM</a:t>
            </a:r>
          </a:p>
          <a:p>
            <a:r>
              <a:rPr lang="en-IN" sz="2400" b="1" dirty="0" smtClean="0">
                <a:solidFill>
                  <a:srgbClr val="00B050"/>
                </a:solidFill>
              </a:rPr>
              <a:t>PROGRAMMING OF ADC0804 IN C (KEIL)</a:t>
            </a:r>
          </a:p>
          <a:p>
            <a:r>
              <a:rPr lang="en-IN" sz="2400" b="1" dirty="0" smtClean="0">
                <a:solidFill>
                  <a:srgbClr val="00B050"/>
                </a:solidFill>
              </a:rPr>
              <a:t>LCD INTERFACING</a:t>
            </a:r>
          </a:p>
          <a:p>
            <a:r>
              <a:rPr lang="en-IN" sz="2400" b="1" dirty="0" smtClean="0">
                <a:solidFill>
                  <a:srgbClr val="00B050"/>
                </a:solidFill>
              </a:rPr>
              <a:t>LCD PIN DESCRIPTION</a:t>
            </a:r>
          </a:p>
          <a:p>
            <a:r>
              <a:rPr lang="en-IN" sz="2400" b="1" dirty="0" smtClean="0">
                <a:solidFill>
                  <a:srgbClr val="00B050"/>
                </a:solidFill>
              </a:rPr>
              <a:t>LCD TIMING DIAGRAM</a:t>
            </a:r>
          </a:p>
          <a:p>
            <a:r>
              <a:rPr lang="en-IN" sz="2400" b="1" dirty="0" smtClean="0">
                <a:solidFill>
                  <a:srgbClr val="00B050"/>
                </a:solidFill>
              </a:rPr>
              <a:t>LCD ADDRESSING</a:t>
            </a:r>
          </a:p>
          <a:p>
            <a:r>
              <a:rPr lang="en-IN" sz="2400" b="1" dirty="0" smtClean="0">
                <a:solidFill>
                  <a:srgbClr val="00B050"/>
                </a:solidFill>
              </a:rPr>
              <a:t>SIMULATION IN PROTEUS</a:t>
            </a:r>
          </a:p>
          <a:p>
            <a:endParaRPr lang="en-IN" sz="2400" b="1" dirty="0">
              <a:solidFill>
                <a:srgbClr val="00B050"/>
              </a:solidFill>
            </a:endParaRPr>
          </a:p>
        </p:txBody>
      </p:sp>
    </p:spTree>
    <p:extLst>
      <p:ext uri="{BB962C8B-B14F-4D97-AF65-F5344CB8AC3E}">
        <p14:creationId xmlns:p14="http://schemas.microsoft.com/office/powerpoint/2010/main" val="3188457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961" y="0"/>
            <a:ext cx="11488993" cy="1237957"/>
          </a:xfrm>
        </p:spPr>
        <p:txBody>
          <a:bodyPr/>
          <a:lstStyle/>
          <a:p>
            <a:pPr algn="ctr"/>
            <a:r>
              <a:rPr lang="en-IN" sz="2800" b="1" dirty="0">
                <a:solidFill>
                  <a:srgbClr val="0070C0"/>
                </a:solidFill>
                <a:latin typeface="Calibri" panose="020F0502020204030204" pitchFamily="34" charset="0"/>
              </a:rPr>
              <a:t>DIGITAL VOLTMETER</a:t>
            </a:r>
          </a:p>
        </p:txBody>
      </p:sp>
      <p:sp>
        <p:nvSpPr>
          <p:cNvPr id="3" name="Content Placeholder 2"/>
          <p:cNvSpPr>
            <a:spLocks noGrp="1"/>
          </p:cNvSpPr>
          <p:nvPr>
            <p:ph idx="1"/>
          </p:nvPr>
        </p:nvSpPr>
        <p:spPr>
          <a:xfrm>
            <a:off x="353961" y="1237958"/>
            <a:ext cx="11488993" cy="5620042"/>
          </a:xfrm>
        </p:spPr>
        <p:txBody>
          <a:bodyPr/>
          <a:lstStyle/>
          <a:p>
            <a:pPr lvl="0" algn="just"/>
            <a:r>
              <a:rPr lang="en-US" sz="2400" dirty="0">
                <a:solidFill>
                  <a:srgbClr val="00B050"/>
                </a:solidFill>
                <a:latin typeface="Calibri" panose="020F0502020204030204" pitchFamily="34" charset="0"/>
              </a:rPr>
              <a:t>Voltmeter is an electrical measuring instrument which is used to measure both AC and DC voltage.</a:t>
            </a:r>
          </a:p>
          <a:p>
            <a:pPr lvl="0" algn="just"/>
            <a:r>
              <a:rPr lang="en-US" sz="2400" dirty="0">
                <a:solidFill>
                  <a:srgbClr val="00B050"/>
                </a:solidFill>
                <a:latin typeface="Calibri" panose="020F0502020204030204" pitchFamily="34" charset="0"/>
              </a:rPr>
              <a:t>There are two types of voltmeter available for the purpose voltage measurement i.e. Analog and Digital voltmeter.</a:t>
            </a:r>
          </a:p>
          <a:p>
            <a:pPr lvl="0" algn="just"/>
            <a:endParaRPr lang="en-US" sz="2400" b="1" dirty="0">
              <a:latin typeface="Calibri" panose="020F0502020204030204" pitchFamily="34" charset="0"/>
            </a:endParaRPr>
          </a:p>
          <a:p>
            <a:pPr marL="0" lvl="0" indent="0">
              <a:buNone/>
            </a:pPr>
            <a:endParaRPr lang="en-IN" dirty="0"/>
          </a:p>
        </p:txBody>
      </p:sp>
      <p:pic>
        <p:nvPicPr>
          <p:cNvPr id="5" name="Picture 4" descr="C:\Users\YASH\AppData\Local\Microsoft\Windows\INetCacheContent.Word\3.jpg"/>
          <p:cNvPicPr/>
          <p:nvPr/>
        </p:nvPicPr>
        <p:blipFill>
          <a:blip r:embed="rId2">
            <a:extLst>
              <a:ext uri="{28A0092B-C50C-407E-A947-70E740481C1C}">
                <a14:useLocalDpi xmlns:a14="http://schemas.microsoft.com/office/drawing/2010/main" val="0"/>
              </a:ext>
            </a:extLst>
          </a:blip>
          <a:srcRect/>
          <a:stretch>
            <a:fillRect/>
          </a:stretch>
        </p:blipFill>
        <p:spPr bwMode="auto">
          <a:xfrm>
            <a:off x="7460812" y="3820549"/>
            <a:ext cx="2520000" cy="25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217" y="3820550"/>
            <a:ext cx="2707015" cy="25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086629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0"/>
            <a:ext cx="11533240" cy="1252025"/>
          </a:xfrm>
        </p:spPr>
        <p:txBody>
          <a:bodyPr/>
          <a:lstStyle/>
          <a:p>
            <a:pPr algn="ctr"/>
            <a:r>
              <a:rPr lang="en-IN" sz="2800" b="1" dirty="0">
                <a:solidFill>
                  <a:srgbClr val="0070C0"/>
                </a:solidFill>
                <a:latin typeface="Calibri" panose="020F0502020204030204" pitchFamily="34" charset="0"/>
              </a:rPr>
              <a:t>MICROCONTROLLER</a:t>
            </a:r>
          </a:p>
        </p:txBody>
      </p:sp>
      <p:sp>
        <p:nvSpPr>
          <p:cNvPr id="3" name="Content Placeholder 2"/>
          <p:cNvSpPr>
            <a:spLocks noGrp="1"/>
          </p:cNvSpPr>
          <p:nvPr>
            <p:ph idx="1"/>
          </p:nvPr>
        </p:nvSpPr>
        <p:spPr>
          <a:xfrm>
            <a:off x="339213" y="1252025"/>
            <a:ext cx="11533239" cy="5605975"/>
          </a:xfrm>
        </p:spPr>
        <p:txBody>
          <a:bodyPr>
            <a:normAutofit/>
          </a:bodyPr>
          <a:lstStyle/>
          <a:p>
            <a:pPr algn="just"/>
            <a:r>
              <a:rPr lang="en-US" sz="2400" dirty="0">
                <a:solidFill>
                  <a:srgbClr val="00B050"/>
                </a:solidFill>
                <a:latin typeface="Calibri" panose="020F0502020204030204" pitchFamily="34" charset="0"/>
              </a:rPr>
              <a:t>A micro controller is an integrated circuit or a chip with a processor and other support devices like program memory, data memory, I/O ports, serial communication interface etc. integrated together.</a:t>
            </a:r>
          </a:p>
          <a:p>
            <a:pPr marL="0" indent="0" algn="just">
              <a:buNone/>
            </a:pPr>
            <a:endParaRPr lang="en-US" sz="2400" dirty="0">
              <a:solidFill>
                <a:srgbClr val="00B050"/>
              </a:solidFill>
              <a:latin typeface="Calibri" panose="020F0502020204030204" pitchFamily="34" charset="0"/>
            </a:endParaRPr>
          </a:p>
          <a:p>
            <a:pPr algn="just"/>
            <a:r>
              <a:rPr lang="en-US" sz="2400" dirty="0">
                <a:solidFill>
                  <a:srgbClr val="00B050"/>
                </a:solidFill>
                <a:latin typeface="Calibri" panose="020F0502020204030204" pitchFamily="34" charset="0"/>
              </a:rPr>
              <a:t>Here Digital Voltmeter uses 8051 microcontroller.</a:t>
            </a:r>
          </a:p>
          <a:p>
            <a:pPr algn="just"/>
            <a:endParaRPr lang="en-US" sz="2400" dirty="0">
              <a:solidFill>
                <a:srgbClr val="00B050"/>
              </a:solidFill>
              <a:latin typeface="Calibri" panose="020F0502020204030204" pitchFamily="34" charset="0"/>
            </a:endParaRPr>
          </a:p>
          <a:p>
            <a:pPr algn="just"/>
            <a:r>
              <a:rPr lang="en-US" sz="2400" dirty="0">
                <a:solidFill>
                  <a:srgbClr val="00B050"/>
                </a:solidFill>
                <a:latin typeface="Calibri" panose="020F0502020204030204" pitchFamily="34" charset="0"/>
              </a:rPr>
              <a:t>8051 microcontroller is a chip having 40 pins.</a:t>
            </a:r>
          </a:p>
          <a:p>
            <a:pPr algn="just"/>
            <a:endParaRPr lang="en-US" sz="2400" dirty="0">
              <a:solidFill>
                <a:srgbClr val="00B050"/>
              </a:solidFill>
              <a:latin typeface="Calibri" panose="020F0502020204030204" pitchFamily="34" charset="0"/>
            </a:endParaRPr>
          </a:p>
          <a:p>
            <a:pPr algn="just"/>
            <a:r>
              <a:rPr lang="en-US" sz="2400" dirty="0">
                <a:solidFill>
                  <a:srgbClr val="00B050"/>
                </a:solidFill>
                <a:latin typeface="Calibri" panose="020F0502020204030204" pitchFamily="34" charset="0"/>
              </a:rPr>
              <a:t>The function of 8051 microcontroller is to manipulate digital data which is obtained from analog to digital converter.</a:t>
            </a:r>
            <a:endParaRPr lang="en-IN" sz="2400" dirty="0">
              <a:solidFill>
                <a:srgbClr val="00B050"/>
              </a:solidFill>
              <a:latin typeface="Calibri" panose="020F0502020204030204" pitchFamily="34" charset="0"/>
            </a:endParaRPr>
          </a:p>
        </p:txBody>
      </p:sp>
    </p:spTree>
    <p:extLst>
      <p:ext uri="{BB962C8B-B14F-4D97-AF65-F5344CB8AC3E}">
        <p14:creationId xmlns:p14="http://schemas.microsoft.com/office/powerpoint/2010/main" val="4193062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1"/>
            <a:ext cx="11547987" cy="1283110"/>
          </a:xfrm>
        </p:spPr>
        <p:txBody>
          <a:bodyPr>
            <a:normAutofit/>
          </a:bodyPr>
          <a:lstStyle/>
          <a:p>
            <a:pPr algn="ctr"/>
            <a:r>
              <a:rPr lang="en-IN" sz="2800" b="1" dirty="0">
                <a:solidFill>
                  <a:srgbClr val="0070C0"/>
                </a:solidFill>
                <a:latin typeface="+mn-lt"/>
              </a:rPr>
              <a:t>8051 MICROCONTROLLER</a:t>
            </a:r>
          </a:p>
        </p:txBody>
      </p:sp>
      <p:pic>
        <p:nvPicPr>
          <p:cNvPr id="4" name="Picture 4" descr="http://www.mikroe.com/img/development-tools/8051/8051-ready/gallery/8051ready_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6264" y="3465513"/>
            <a:ext cx="3940936" cy="26499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2" descr="http://4.bp.blogspot.com/-MdSsugMcQm8/TXkMUetjk0I/AAAAAAAAAB4/uU-AlL5cvvw/s1600/intel%2B8051%2B.jp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8428754" y="1283111"/>
            <a:ext cx="2975956" cy="1305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3"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1860" y="1048158"/>
            <a:ext cx="3281585" cy="52757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168028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65" y="0"/>
            <a:ext cx="11547987" cy="1238865"/>
          </a:xfrm>
        </p:spPr>
        <p:txBody>
          <a:bodyPr/>
          <a:lstStyle/>
          <a:p>
            <a:pPr algn="ctr"/>
            <a:r>
              <a:rPr lang="en-IN" sz="2800" b="1" dirty="0">
                <a:solidFill>
                  <a:srgbClr val="0070C0"/>
                </a:solidFill>
                <a:latin typeface="Calibri" panose="020F0502020204030204" pitchFamily="34" charset="0"/>
              </a:rPr>
              <a:t>PIN DIAGRAM OF 8051 MICROCONTROLLER</a:t>
            </a:r>
          </a:p>
        </p:txBody>
      </p:sp>
      <p:pic>
        <p:nvPicPr>
          <p:cNvPr id="4" name="Content Placeholder 3" descr="8051 micro controller pin diagram">
            <a:hlinkClick r:id="rId2"/>
          </p:cNvPr>
          <p:cNvPicPr>
            <a:picLocks noGrp="1"/>
          </p:cNvPicPr>
          <p:nvPr>
            <p:ph idx="1"/>
          </p:nvPr>
        </p:nvPicPr>
        <p:blipFill rotWithShape="1">
          <a:blip r:embed="rId3">
            <a:extLst>
              <a:ext uri="{28A0092B-C50C-407E-A947-70E740481C1C}">
                <a14:useLocalDpi xmlns:a14="http://schemas.microsoft.com/office/drawing/2010/main" val="0"/>
              </a:ext>
            </a:extLst>
          </a:blip>
          <a:srcRect t="6810" b="6031"/>
          <a:stretch/>
        </p:blipFill>
        <p:spPr bwMode="auto">
          <a:xfrm>
            <a:off x="4323938" y="1091381"/>
            <a:ext cx="3544123" cy="56463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8719076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213" y="0"/>
            <a:ext cx="11488993" cy="6858000"/>
          </a:xfrm>
        </p:spPr>
        <p:txBody>
          <a:bodyPr>
            <a:normAutofit lnSpcReduction="10000"/>
          </a:bodyPr>
          <a:lstStyle/>
          <a:p>
            <a:pPr algn="just"/>
            <a:r>
              <a:rPr lang="en-IN" sz="2400" b="1" dirty="0">
                <a:solidFill>
                  <a:srgbClr val="FF0000"/>
                </a:solidFill>
                <a:effectLst>
                  <a:outerShdw blurRad="38100" dist="38100" dir="2700000" algn="tl">
                    <a:srgbClr val="000000">
                      <a:alpha val="43137"/>
                    </a:srgbClr>
                  </a:outerShdw>
                </a:effectLst>
              </a:rPr>
              <a:t>PIN 9</a:t>
            </a:r>
            <a:r>
              <a:rPr lang="en-IN" sz="2400" dirty="0">
                <a:solidFill>
                  <a:srgbClr val="FF0000"/>
                </a:solidFill>
                <a:effectLst>
                  <a:outerShdw blurRad="38100" dist="38100" dir="2700000" algn="tl">
                    <a:srgbClr val="000000">
                      <a:alpha val="43137"/>
                    </a:srgbClr>
                  </a:outerShdw>
                </a:effectLst>
              </a:rPr>
              <a:t>: </a:t>
            </a:r>
            <a:r>
              <a:rPr lang="en-IN" sz="2400" dirty="0">
                <a:solidFill>
                  <a:srgbClr val="00B050"/>
                </a:solidFill>
              </a:rPr>
              <a:t>PIN 9 is the reset pin which is used to reset the microcontroller’s internal registers and ports upon starting up. (Pin should be held high for 2 machine cycles.)</a:t>
            </a:r>
          </a:p>
          <a:p>
            <a:pPr algn="just"/>
            <a:endParaRPr lang="en-IN" sz="2400" b="1" dirty="0" smtClean="0">
              <a:solidFill>
                <a:srgbClr val="00B050"/>
              </a:solidFill>
            </a:endParaRPr>
          </a:p>
          <a:p>
            <a:pPr algn="just"/>
            <a:r>
              <a:rPr lang="en-IN" sz="2400" b="1" dirty="0" smtClean="0">
                <a:solidFill>
                  <a:srgbClr val="FF0000"/>
                </a:solidFill>
                <a:effectLst>
                  <a:outerShdw blurRad="38100" dist="38100" dir="2700000" algn="tl">
                    <a:srgbClr val="000000">
                      <a:alpha val="43137"/>
                    </a:srgbClr>
                  </a:outerShdw>
                </a:effectLst>
              </a:rPr>
              <a:t>PINS </a:t>
            </a:r>
            <a:r>
              <a:rPr lang="en-IN" sz="2400" b="1" dirty="0">
                <a:solidFill>
                  <a:srgbClr val="FF0000"/>
                </a:solidFill>
                <a:effectLst>
                  <a:outerShdw blurRad="38100" dist="38100" dir="2700000" algn="tl">
                    <a:srgbClr val="000000">
                      <a:alpha val="43137"/>
                    </a:srgbClr>
                  </a:outerShdw>
                </a:effectLst>
              </a:rPr>
              <a:t>18 &amp; 19</a:t>
            </a:r>
            <a:r>
              <a:rPr lang="en-IN" sz="2400" dirty="0">
                <a:solidFill>
                  <a:srgbClr val="FF0000"/>
                </a:solidFill>
                <a:effectLst>
                  <a:outerShdw blurRad="38100" dist="38100" dir="2700000" algn="tl">
                    <a:srgbClr val="000000">
                      <a:alpha val="43137"/>
                    </a:srgbClr>
                  </a:outerShdw>
                </a:effectLst>
              </a:rPr>
              <a:t>: </a:t>
            </a:r>
            <a:r>
              <a:rPr lang="en-IN" sz="2400" dirty="0">
                <a:solidFill>
                  <a:srgbClr val="00B050"/>
                </a:solidFill>
              </a:rPr>
              <a:t>The 8051 has a built-in oscillator amplifier hence we need to only connect a crystal at these pins to provide clock pulses to the circuit</a:t>
            </a:r>
            <a:r>
              <a:rPr lang="en-IN" sz="2400" dirty="0" smtClean="0">
                <a:solidFill>
                  <a:srgbClr val="00B050"/>
                </a:solidFill>
              </a:rPr>
              <a:t>.</a:t>
            </a:r>
          </a:p>
          <a:p>
            <a:pPr algn="just"/>
            <a:endParaRPr lang="en-IN" sz="2400" dirty="0">
              <a:solidFill>
                <a:srgbClr val="00B050"/>
              </a:solidFill>
            </a:endParaRPr>
          </a:p>
          <a:p>
            <a:pPr algn="just"/>
            <a:r>
              <a:rPr lang="en-IN" sz="2400" b="1" dirty="0">
                <a:solidFill>
                  <a:srgbClr val="FF0000"/>
                </a:solidFill>
                <a:effectLst>
                  <a:outerShdw blurRad="38100" dist="38100" dir="2700000" algn="tl">
                    <a:srgbClr val="000000">
                      <a:alpha val="43137"/>
                    </a:srgbClr>
                  </a:outerShdw>
                </a:effectLst>
              </a:rPr>
              <a:t>PIN 40 and 20</a:t>
            </a:r>
            <a:r>
              <a:rPr lang="en-IN" sz="2400" dirty="0">
                <a:solidFill>
                  <a:srgbClr val="FF0000"/>
                </a:solidFill>
                <a:effectLst>
                  <a:outerShdw blurRad="38100" dist="38100" dir="2700000" algn="tl">
                    <a:srgbClr val="000000">
                      <a:alpha val="43137"/>
                    </a:srgbClr>
                  </a:outerShdw>
                </a:effectLst>
              </a:rPr>
              <a:t>: </a:t>
            </a:r>
            <a:r>
              <a:rPr lang="en-IN" sz="2400" dirty="0">
                <a:solidFill>
                  <a:srgbClr val="00B050"/>
                </a:solidFill>
              </a:rPr>
              <a:t>Pins 40 and 20 are VCC and ground respectively. The 8051 chip needs +5V 500mA to function properly, although there are lower powered versions like the Atmel 2051 which is a scaled down version of the 8051 which runs on +3V</a:t>
            </a:r>
            <a:r>
              <a:rPr lang="en-IN" sz="2400" dirty="0" smtClean="0">
                <a:solidFill>
                  <a:srgbClr val="00B050"/>
                </a:solidFill>
              </a:rPr>
              <a:t>.</a:t>
            </a:r>
          </a:p>
          <a:p>
            <a:pPr algn="just"/>
            <a:endParaRPr lang="en-IN" sz="2400" dirty="0">
              <a:solidFill>
                <a:srgbClr val="00B050"/>
              </a:solidFill>
            </a:endParaRPr>
          </a:p>
          <a:p>
            <a:pPr algn="just"/>
            <a:r>
              <a:rPr lang="en-IN" sz="2400" b="1" dirty="0">
                <a:solidFill>
                  <a:srgbClr val="FF0000"/>
                </a:solidFill>
                <a:effectLst>
                  <a:outerShdw blurRad="38100" dist="38100" dir="2700000" algn="tl">
                    <a:srgbClr val="000000">
                      <a:alpha val="43137"/>
                    </a:srgbClr>
                  </a:outerShdw>
                </a:effectLst>
              </a:rPr>
              <a:t>PINS 29, 30 &amp; 31</a:t>
            </a:r>
            <a:r>
              <a:rPr lang="en-IN" sz="2400" dirty="0">
                <a:solidFill>
                  <a:srgbClr val="FF0000"/>
                </a:solidFill>
                <a:effectLst>
                  <a:outerShdw blurRad="38100" dist="38100" dir="2700000" algn="tl">
                    <a:srgbClr val="000000">
                      <a:alpha val="43137"/>
                    </a:srgbClr>
                  </a:outerShdw>
                </a:effectLst>
              </a:rPr>
              <a:t>: </a:t>
            </a:r>
            <a:r>
              <a:rPr lang="en-IN" sz="2400" dirty="0">
                <a:solidFill>
                  <a:srgbClr val="00B050"/>
                </a:solidFill>
              </a:rPr>
              <a:t>As described in the features of the 8051, this chip contains a built-in flash memory. In order to program this we need to supply a voltage of +12V at pin 31. If external memory is connected then PIN 31, also called EA/VPP, should be connected to ground to indicate the presence of external memory. PIN 30 is called ALE (address latch enable), which is used when multiple memory chips are connected to the controller and only one of them needs to be </a:t>
            </a:r>
            <a:r>
              <a:rPr lang="en-IN" sz="2400" dirty="0" err="1">
                <a:solidFill>
                  <a:srgbClr val="00B050"/>
                </a:solidFill>
              </a:rPr>
              <a:t>selected.We</a:t>
            </a:r>
            <a:r>
              <a:rPr lang="en-IN" sz="2400" dirty="0">
                <a:solidFill>
                  <a:srgbClr val="00B050"/>
                </a:solidFill>
              </a:rPr>
              <a:t> will deal with this in depth in the later chapters. PIN 29 is called PSEN. This is "program store enable". In order to use the external memory it is required to provide the low voltage (0) on both PSEN and EA pins.</a:t>
            </a:r>
            <a:br>
              <a:rPr lang="en-IN" sz="2400" dirty="0">
                <a:solidFill>
                  <a:srgbClr val="00B050"/>
                </a:solidFill>
              </a:rPr>
            </a:br>
            <a:endParaRPr lang="en-IN" sz="2400" dirty="0">
              <a:solidFill>
                <a:srgbClr val="00B050"/>
              </a:solidFill>
            </a:endParaRPr>
          </a:p>
        </p:txBody>
      </p:sp>
    </p:spTree>
    <p:extLst>
      <p:ext uri="{BB962C8B-B14F-4D97-AF65-F5344CB8AC3E}">
        <p14:creationId xmlns:p14="http://schemas.microsoft.com/office/powerpoint/2010/main" val="33201490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3457" y="147484"/>
            <a:ext cx="11459497" cy="6029479"/>
          </a:xfrm>
        </p:spPr>
        <p:txBody>
          <a:bodyPr/>
          <a:lstStyle/>
          <a:p>
            <a:endParaRPr lang="en-IN" b="1" dirty="0">
              <a:solidFill>
                <a:srgbClr val="0070C0"/>
              </a:solidFill>
            </a:endParaRPr>
          </a:p>
          <a:p>
            <a:pPr algn="just"/>
            <a:r>
              <a:rPr lang="en-IN" sz="2400" dirty="0">
                <a:solidFill>
                  <a:srgbClr val="FF0000"/>
                </a:solidFill>
                <a:effectLst>
                  <a:outerShdw blurRad="38100" dist="38100" dir="2700000" algn="tl">
                    <a:srgbClr val="000000">
                      <a:alpha val="43137"/>
                    </a:srgbClr>
                  </a:outerShdw>
                </a:effectLst>
              </a:rPr>
              <a:t>Pin 29: </a:t>
            </a:r>
            <a:r>
              <a:rPr lang="en-IN" sz="2400" dirty="0">
                <a:solidFill>
                  <a:srgbClr val="00B050"/>
                </a:solidFill>
              </a:rPr>
              <a:t>If we uses an external ROM then it should has a logic 0 which indicates Micro controller to read data from memory.</a:t>
            </a:r>
          </a:p>
          <a:p>
            <a:pPr algn="just"/>
            <a:endParaRPr lang="en-IN" sz="2400" dirty="0">
              <a:solidFill>
                <a:srgbClr val="00B050"/>
              </a:solidFill>
            </a:endParaRPr>
          </a:p>
          <a:p>
            <a:pPr algn="just"/>
            <a:r>
              <a:rPr lang="en-IN" sz="2400" dirty="0">
                <a:solidFill>
                  <a:srgbClr val="FF0000"/>
                </a:solidFill>
                <a:effectLst>
                  <a:outerShdw blurRad="38100" dist="38100" dir="2700000" algn="tl">
                    <a:srgbClr val="000000">
                      <a:alpha val="43137"/>
                    </a:srgbClr>
                  </a:outerShdw>
                </a:effectLst>
              </a:rPr>
              <a:t>Pin 30: </a:t>
            </a:r>
            <a:r>
              <a:rPr lang="en-IN" sz="2400" dirty="0">
                <a:solidFill>
                  <a:srgbClr val="00B050"/>
                </a:solidFill>
              </a:rPr>
              <a:t>This Pin is used for ALE that is Address Latch Enable. If we uses multiple memory chips then this pin is used to distinguish between them. This Pin also gives program pulse input during programming of EPROM.</a:t>
            </a:r>
          </a:p>
          <a:p>
            <a:pPr algn="just"/>
            <a:endParaRPr lang="en-IN" sz="2400" dirty="0">
              <a:solidFill>
                <a:srgbClr val="00B050"/>
              </a:solidFill>
            </a:endParaRPr>
          </a:p>
          <a:p>
            <a:pPr algn="just"/>
            <a:r>
              <a:rPr lang="en-IN" sz="2400" dirty="0">
                <a:solidFill>
                  <a:srgbClr val="FF0000"/>
                </a:solidFill>
                <a:effectLst>
                  <a:outerShdw blurRad="38100" dist="38100" dir="2700000" algn="tl">
                    <a:srgbClr val="000000">
                      <a:alpha val="43137"/>
                    </a:srgbClr>
                  </a:outerShdw>
                </a:effectLst>
              </a:rPr>
              <a:t>Pin 31: </a:t>
            </a:r>
            <a:r>
              <a:rPr lang="en-IN" sz="2400" dirty="0">
                <a:solidFill>
                  <a:srgbClr val="00B050"/>
                </a:solidFill>
              </a:rPr>
              <a:t>If we have to use multiple memories then by applying logic 1 to this pin instructs Micro controller to read data from both memories first internal and afterwards external.</a:t>
            </a:r>
          </a:p>
          <a:p>
            <a:pPr algn="just"/>
            <a:endParaRPr lang="en-IN" sz="2400" dirty="0">
              <a:solidFill>
                <a:srgbClr val="00B050"/>
              </a:solidFill>
            </a:endParaRPr>
          </a:p>
        </p:txBody>
      </p:sp>
    </p:spTree>
    <p:extLst>
      <p:ext uri="{BB962C8B-B14F-4D97-AF65-F5344CB8AC3E}">
        <p14:creationId xmlns:p14="http://schemas.microsoft.com/office/powerpoint/2010/main" val="38916509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465" y="0"/>
            <a:ext cx="11547987" cy="6858000"/>
          </a:xfrm>
        </p:spPr>
        <p:txBody>
          <a:bodyPr>
            <a:normAutofit/>
          </a:bodyPr>
          <a:lstStyle/>
          <a:p>
            <a:pPr marL="0" indent="0">
              <a:buNone/>
            </a:pPr>
            <a:endParaRPr lang="en-IN" b="1" dirty="0">
              <a:solidFill>
                <a:srgbClr val="0070C0"/>
              </a:solidFill>
            </a:endParaRPr>
          </a:p>
          <a:p>
            <a:pPr algn="just"/>
            <a:r>
              <a:rPr lang="en-IN" sz="2400" dirty="0">
                <a:solidFill>
                  <a:srgbClr val="00B050"/>
                </a:solidFill>
              </a:rPr>
              <a:t>There are 4 8-bit ports: P0, P1, P2 and P3</a:t>
            </a:r>
            <a:r>
              <a:rPr lang="en-IN" sz="2400" dirty="0" smtClean="0">
                <a:solidFill>
                  <a:srgbClr val="00B050"/>
                </a:solidFill>
              </a:rPr>
              <a:t>.</a:t>
            </a:r>
          </a:p>
          <a:p>
            <a:pPr algn="just"/>
            <a:endParaRPr lang="en-IN" sz="2400" dirty="0">
              <a:solidFill>
                <a:srgbClr val="00B050"/>
              </a:solidFill>
            </a:endParaRPr>
          </a:p>
          <a:p>
            <a:pPr algn="just"/>
            <a:r>
              <a:rPr lang="en-IN" sz="2400" dirty="0">
                <a:solidFill>
                  <a:srgbClr val="FF0000"/>
                </a:solidFill>
                <a:effectLst>
                  <a:outerShdw blurRad="38100" dist="38100" dir="2700000" algn="tl">
                    <a:srgbClr val="000000">
                      <a:alpha val="43137"/>
                    </a:srgbClr>
                  </a:outerShdw>
                </a:effectLst>
              </a:rPr>
              <a:t>PORT P1 (Pins 1 to 8): </a:t>
            </a:r>
            <a:r>
              <a:rPr lang="en-IN" sz="2400" dirty="0">
                <a:solidFill>
                  <a:srgbClr val="00B050"/>
                </a:solidFill>
              </a:rPr>
              <a:t>The port P1 is a general purpose input/output port which can be used for a variety of interfacing tasks. The other ports P0, P2 and P3 have dual roles or additional functions associated with them based upon the context of their usage. The port 1 output buffers can sink/source four TTL inputs. When 1s are written to portn1 pins are pulled high by the internal pull-ups and can be used as inputs.</a:t>
            </a:r>
          </a:p>
          <a:p>
            <a:pPr algn="just"/>
            <a:endParaRPr lang="en-IN" sz="2400" dirty="0" smtClean="0">
              <a:solidFill>
                <a:srgbClr val="00B050"/>
              </a:solidFill>
            </a:endParaRPr>
          </a:p>
          <a:p>
            <a:pPr algn="just"/>
            <a:r>
              <a:rPr lang="en-IN" sz="2400" dirty="0" smtClean="0">
                <a:solidFill>
                  <a:srgbClr val="FF0000"/>
                </a:solidFill>
                <a:effectLst>
                  <a:outerShdw blurRad="38100" dist="38100" dir="2700000" algn="tl">
                    <a:srgbClr val="000000">
                      <a:alpha val="43137"/>
                    </a:srgbClr>
                  </a:outerShdw>
                </a:effectLst>
              </a:rPr>
              <a:t>PORT </a:t>
            </a:r>
            <a:r>
              <a:rPr lang="en-IN" sz="2400" dirty="0">
                <a:solidFill>
                  <a:srgbClr val="FF0000"/>
                </a:solidFill>
                <a:effectLst>
                  <a:outerShdw blurRad="38100" dist="38100" dir="2700000" algn="tl">
                    <a:srgbClr val="000000">
                      <a:alpha val="43137"/>
                    </a:srgbClr>
                  </a:outerShdw>
                </a:effectLst>
              </a:rPr>
              <a:t>P3 (Pins 10 to 17): </a:t>
            </a:r>
            <a:r>
              <a:rPr lang="en-IN" sz="2400" dirty="0">
                <a:solidFill>
                  <a:srgbClr val="00B050"/>
                </a:solidFill>
              </a:rPr>
              <a:t>PORT P3 acts as a normal IO port, but Port P3 has additional functions such as, serial transmit and receive pins, 2 external interrupt pins, 2 external counter inputs, read and write pins for memory access.</a:t>
            </a:r>
          </a:p>
          <a:p>
            <a:pPr algn="just"/>
            <a:endParaRPr lang="en-IN" sz="2400" dirty="0" smtClean="0">
              <a:solidFill>
                <a:srgbClr val="00B050"/>
              </a:solidFill>
            </a:endParaRPr>
          </a:p>
          <a:p>
            <a:pPr algn="just"/>
            <a:r>
              <a:rPr lang="en-IN" sz="2400" dirty="0" smtClean="0">
                <a:solidFill>
                  <a:srgbClr val="FF0000"/>
                </a:solidFill>
                <a:effectLst>
                  <a:outerShdw blurRad="38100" dist="38100" dir="2700000" algn="tl">
                    <a:srgbClr val="000000">
                      <a:alpha val="43137"/>
                    </a:srgbClr>
                  </a:outerShdw>
                </a:effectLst>
              </a:rPr>
              <a:t>PORT </a:t>
            </a:r>
            <a:r>
              <a:rPr lang="en-IN" sz="2400" dirty="0">
                <a:solidFill>
                  <a:srgbClr val="FF0000"/>
                </a:solidFill>
                <a:effectLst>
                  <a:outerShdw blurRad="38100" dist="38100" dir="2700000" algn="tl">
                    <a:srgbClr val="000000">
                      <a:alpha val="43137"/>
                    </a:srgbClr>
                  </a:outerShdw>
                </a:effectLst>
              </a:rPr>
              <a:t>P2 (pins 21 to 28): </a:t>
            </a:r>
            <a:r>
              <a:rPr lang="en-IN" sz="2400" dirty="0">
                <a:solidFill>
                  <a:srgbClr val="00B050"/>
                </a:solidFill>
              </a:rPr>
              <a:t>PORT P2 can also be used as a general purpose 8 bit port when no external memory is present, but if external memory access is required then PORT P2 will act as an address bus in conjunction with PORT P0 to access external memory. </a:t>
            </a:r>
          </a:p>
          <a:p>
            <a:pPr algn="just"/>
            <a:endParaRPr lang="en-IN" sz="2400" dirty="0">
              <a:solidFill>
                <a:srgbClr val="00B050"/>
              </a:solidFill>
            </a:endParaRPr>
          </a:p>
        </p:txBody>
      </p:sp>
    </p:spTree>
    <p:extLst>
      <p:ext uri="{BB962C8B-B14F-4D97-AF65-F5344CB8AC3E}">
        <p14:creationId xmlns:p14="http://schemas.microsoft.com/office/powerpoint/2010/main" val="31504479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710" y="0"/>
            <a:ext cx="11503742" cy="6858000"/>
          </a:xfrm>
        </p:spPr>
        <p:txBody>
          <a:bodyPr/>
          <a:lstStyle/>
          <a:p>
            <a:endParaRPr lang="en-IN" b="1" dirty="0">
              <a:solidFill>
                <a:srgbClr val="0070C0"/>
              </a:solidFill>
            </a:endParaRPr>
          </a:p>
          <a:p>
            <a:pPr algn="just"/>
            <a:r>
              <a:rPr lang="en-IN" sz="2400" dirty="0">
                <a:solidFill>
                  <a:srgbClr val="FF0000"/>
                </a:solidFill>
                <a:effectLst>
                  <a:outerShdw blurRad="38100" dist="38100" dir="2700000" algn="tl">
                    <a:srgbClr val="000000">
                      <a:alpha val="43137"/>
                    </a:srgbClr>
                  </a:outerShdw>
                </a:effectLst>
              </a:rPr>
              <a:t>PORT P0 (pins 32 to 39</a:t>
            </a:r>
            <a:r>
              <a:rPr lang="en-IN" sz="2400" dirty="0" smtClean="0">
                <a:solidFill>
                  <a:srgbClr val="FF0000"/>
                </a:solidFill>
                <a:effectLst>
                  <a:outerShdw blurRad="38100" dist="38100" dir="2700000" algn="tl">
                    <a:srgbClr val="000000">
                      <a:alpha val="43137"/>
                    </a:srgbClr>
                  </a:outerShdw>
                </a:effectLst>
              </a:rPr>
              <a:t>): </a:t>
            </a:r>
            <a:r>
              <a:rPr lang="en-IN" sz="2400" dirty="0" smtClean="0">
                <a:solidFill>
                  <a:srgbClr val="00B050"/>
                </a:solidFill>
              </a:rPr>
              <a:t>PORT </a:t>
            </a:r>
            <a:r>
              <a:rPr lang="en-IN" sz="2400" dirty="0">
                <a:solidFill>
                  <a:srgbClr val="00B050"/>
                </a:solidFill>
              </a:rPr>
              <a:t>P0 can be used as a general purpose 8 bit port when no external memory is present, but if external memory access is required then PORT P0 acts as a multiplexed address and data bus that can be used to access external memory in conjunction with PORT P2. P0 acts as AD0-AD7, as can be seen from fig 1.1</a:t>
            </a:r>
          </a:p>
          <a:p>
            <a:pPr algn="just"/>
            <a:endParaRPr lang="en-IN" sz="2400" dirty="0">
              <a:solidFill>
                <a:srgbClr val="00B050"/>
              </a:solidFill>
            </a:endParaRPr>
          </a:p>
          <a:p>
            <a:pPr algn="just"/>
            <a:r>
              <a:rPr lang="en-IN" sz="2400" dirty="0" smtClean="0">
                <a:solidFill>
                  <a:srgbClr val="FF0000"/>
                </a:solidFill>
                <a:effectLst>
                  <a:outerShdw blurRad="38100" dist="38100" dir="2700000" algn="tl">
                    <a:srgbClr val="000000">
                      <a:alpha val="43137"/>
                    </a:srgbClr>
                  </a:outerShdw>
                </a:effectLst>
              </a:rPr>
              <a:t>PIN 10</a:t>
            </a:r>
            <a:r>
              <a:rPr lang="en-IN" sz="2400" dirty="0">
                <a:solidFill>
                  <a:srgbClr val="FF0000"/>
                </a:solidFill>
                <a:effectLst>
                  <a:outerShdw blurRad="38100" dist="38100" dir="2700000" algn="tl">
                    <a:srgbClr val="000000">
                      <a:alpha val="43137"/>
                    </a:srgbClr>
                  </a:outerShdw>
                </a:effectLst>
              </a:rPr>
              <a:t>: </a:t>
            </a:r>
            <a:r>
              <a:rPr lang="en-IN" sz="2400" dirty="0">
                <a:solidFill>
                  <a:srgbClr val="00B050"/>
                </a:solidFill>
              </a:rPr>
              <a:t>asynchronous communication input or Serial synchronous communication output.</a:t>
            </a:r>
          </a:p>
          <a:p>
            <a:pPr algn="just"/>
            <a:endParaRPr lang="en-IN" sz="2400" dirty="0">
              <a:solidFill>
                <a:srgbClr val="00B050"/>
              </a:solidFill>
            </a:endParaRPr>
          </a:p>
          <a:p>
            <a:pPr algn="just"/>
            <a:r>
              <a:rPr lang="en-IN" sz="2400" dirty="0" smtClean="0">
                <a:solidFill>
                  <a:srgbClr val="FF0000"/>
                </a:solidFill>
                <a:effectLst>
                  <a:outerShdw blurRad="38100" dist="38100" dir="2700000" algn="tl">
                    <a:srgbClr val="000000">
                      <a:alpha val="43137"/>
                    </a:srgbClr>
                  </a:outerShdw>
                </a:effectLst>
              </a:rPr>
              <a:t>PIN11:</a:t>
            </a:r>
            <a:r>
              <a:rPr lang="en-IN" sz="2400" dirty="0" smtClean="0">
                <a:solidFill>
                  <a:srgbClr val="00B050"/>
                </a:solidFill>
              </a:rPr>
              <a:t>Serial Asynchronous </a:t>
            </a:r>
            <a:r>
              <a:rPr lang="en-IN" sz="2400" dirty="0">
                <a:solidFill>
                  <a:srgbClr val="00B050"/>
                </a:solidFill>
              </a:rPr>
              <a:t>Communication Output or Serial Synchronous Communication clock Output.</a:t>
            </a:r>
          </a:p>
          <a:p>
            <a:endParaRPr lang="en-IN" dirty="0"/>
          </a:p>
        </p:txBody>
      </p:sp>
    </p:spTree>
    <p:extLst>
      <p:ext uri="{BB962C8B-B14F-4D97-AF65-F5344CB8AC3E}">
        <p14:creationId xmlns:p14="http://schemas.microsoft.com/office/powerpoint/2010/main" val="17236850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710" y="0"/>
            <a:ext cx="11518489" cy="1283110"/>
          </a:xfrm>
        </p:spPr>
        <p:txBody>
          <a:bodyPr>
            <a:normAutofit/>
          </a:bodyPr>
          <a:lstStyle/>
          <a:p>
            <a:pPr algn="ctr"/>
            <a:r>
              <a:rPr lang="en-IN" sz="2800" b="1" dirty="0">
                <a:solidFill>
                  <a:srgbClr val="0070C0"/>
                </a:solidFill>
                <a:latin typeface="Calibri" panose="020F0502020204030204" pitchFamily="34" charset="0"/>
              </a:rPr>
              <a:t>CIRCUIT DIAGRAM OF DIGITAL VOLTMETER USING 8051 MICROCONTROLLER</a:t>
            </a:r>
            <a:r>
              <a:rPr lang="en-IN" sz="2800" b="1" dirty="0">
                <a:solidFill>
                  <a:srgbClr val="FF0000"/>
                </a:solidFill>
                <a:latin typeface="Calibri" panose="020F0502020204030204" pitchFamily="34" charset="0"/>
              </a:rPr>
              <a:t> </a:t>
            </a:r>
          </a:p>
        </p:txBody>
      </p:sp>
      <p:pic>
        <p:nvPicPr>
          <p:cNvPr id="7"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04" y="1056068"/>
            <a:ext cx="10200068" cy="56929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10979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1"/>
            <a:ext cx="11518490" cy="988142"/>
          </a:xfrm>
        </p:spPr>
        <p:txBody>
          <a:bodyPr/>
          <a:lstStyle/>
          <a:p>
            <a:pPr algn="ctr"/>
            <a:r>
              <a:rPr lang="en-IN" sz="2800" b="1" dirty="0">
                <a:solidFill>
                  <a:srgbClr val="0070C0"/>
                </a:solidFill>
                <a:latin typeface="Calibri" panose="020F0502020204030204" pitchFamily="34" charset="0"/>
              </a:rPr>
              <a:t>COMPONENTS REQUIRED IN THE CIRCUIT</a:t>
            </a:r>
          </a:p>
        </p:txBody>
      </p:sp>
      <p:sp>
        <p:nvSpPr>
          <p:cNvPr id="3" name="Content Placeholder 2"/>
          <p:cNvSpPr>
            <a:spLocks noGrp="1"/>
          </p:cNvSpPr>
          <p:nvPr>
            <p:ph idx="1"/>
          </p:nvPr>
        </p:nvSpPr>
        <p:spPr>
          <a:xfrm>
            <a:off x="339213" y="1253612"/>
            <a:ext cx="11518489" cy="5604387"/>
          </a:xfrm>
        </p:spPr>
        <p:txBody>
          <a:bodyPr>
            <a:normAutofit fontScale="92500" lnSpcReduction="10000"/>
          </a:bodyPr>
          <a:lstStyle/>
          <a:p>
            <a:pPr algn="just"/>
            <a:r>
              <a:rPr lang="en-IN" sz="2600" dirty="0">
                <a:solidFill>
                  <a:srgbClr val="00B050"/>
                </a:solidFill>
                <a:latin typeface="Calibri" panose="020F0502020204030204" pitchFamily="34" charset="0"/>
              </a:rPr>
              <a:t>Microcontroller, AT89C51</a:t>
            </a:r>
          </a:p>
          <a:p>
            <a:pPr algn="just"/>
            <a:r>
              <a:rPr lang="en-IN" sz="2600" dirty="0">
                <a:solidFill>
                  <a:srgbClr val="00B050"/>
                </a:solidFill>
                <a:latin typeface="Calibri" panose="020F0502020204030204" pitchFamily="34" charset="0"/>
              </a:rPr>
              <a:t>Analog‐to‐Digital Converter, ADC0804</a:t>
            </a:r>
          </a:p>
          <a:p>
            <a:pPr algn="just"/>
            <a:r>
              <a:rPr lang="en-IN" sz="2600" dirty="0" smtClean="0">
                <a:solidFill>
                  <a:srgbClr val="00B050"/>
                </a:solidFill>
                <a:latin typeface="Calibri" panose="020F0502020204030204" pitchFamily="34" charset="0"/>
              </a:rPr>
              <a:t>16×2 </a:t>
            </a:r>
            <a:r>
              <a:rPr lang="en-IN" sz="2600" dirty="0">
                <a:solidFill>
                  <a:srgbClr val="00B050"/>
                </a:solidFill>
                <a:latin typeface="Calibri" panose="020F0502020204030204" pitchFamily="34" charset="0"/>
              </a:rPr>
              <a:t>LCD</a:t>
            </a:r>
          </a:p>
          <a:p>
            <a:pPr algn="just"/>
            <a:r>
              <a:rPr lang="en-IN" sz="2600" dirty="0">
                <a:solidFill>
                  <a:srgbClr val="00B050"/>
                </a:solidFill>
                <a:latin typeface="Calibri" panose="020F0502020204030204" pitchFamily="34" charset="0"/>
              </a:rPr>
              <a:t>Oscillator circuit for the microcontroller</a:t>
            </a:r>
          </a:p>
          <a:p>
            <a:pPr marL="0" indent="0" algn="just">
              <a:buNone/>
            </a:pPr>
            <a:r>
              <a:rPr lang="en-IN" sz="2600" dirty="0">
                <a:solidFill>
                  <a:srgbClr val="00B050"/>
                </a:solidFill>
                <a:latin typeface="Calibri" panose="020F0502020204030204" pitchFamily="34" charset="0"/>
              </a:rPr>
              <a:t>	1. 12MHz Crystal Capacitor</a:t>
            </a:r>
          </a:p>
          <a:p>
            <a:pPr marL="0" indent="0" algn="just">
              <a:buNone/>
            </a:pPr>
            <a:r>
              <a:rPr lang="en-IN" sz="2600" dirty="0">
                <a:solidFill>
                  <a:srgbClr val="00B050"/>
                </a:solidFill>
                <a:latin typeface="Calibri" panose="020F0502020204030204" pitchFamily="34" charset="0"/>
              </a:rPr>
              <a:t>	2. 33pF Capacitors</a:t>
            </a:r>
          </a:p>
          <a:p>
            <a:pPr algn="just"/>
            <a:r>
              <a:rPr lang="en-IN" sz="2600" dirty="0">
                <a:solidFill>
                  <a:srgbClr val="00B050"/>
                </a:solidFill>
                <a:latin typeface="Calibri" panose="020F0502020204030204" pitchFamily="34" charset="0"/>
              </a:rPr>
              <a:t>Voltage divider circuit/ Input terminals</a:t>
            </a:r>
          </a:p>
          <a:p>
            <a:pPr marL="0" indent="0" algn="just">
              <a:buNone/>
            </a:pPr>
            <a:r>
              <a:rPr lang="en-IN" sz="2600" dirty="0">
                <a:solidFill>
                  <a:srgbClr val="00B050"/>
                </a:solidFill>
                <a:latin typeface="Calibri" panose="020F0502020204030204" pitchFamily="34" charset="0"/>
              </a:rPr>
              <a:t>	1. 200k, 100k Resistors</a:t>
            </a:r>
          </a:p>
          <a:p>
            <a:pPr marL="0" indent="0" algn="just">
              <a:buNone/>
            </a:pPr>
            <a:r>
              <a:rPr lang="en-IN" sz="2600" dirty="0">
                <a:solidFill>
                  <a:srgbClr val="00B050"/>
                </a:solidFill>
                <a:latin typeface="Calibri" panose="020F0502020204030204" pitchFamily="34" charset="0"/>
              </a:rPr>
              <a:t>	2. 100nF Capacitor</a:t>
            </a:r>
          </a:p>
          <a:p>
            <a:pPr algn="just"/>
            <a:r>
              <a:rPr lang="en-IN" sz="2600" dirty="0">
                <a:solidFill>
                  <a:srgbClr val="00B050"/>
                </a:solidFill>
                <a:latin typeface="Calibri" panose="020F0502020204030204" pitchFamily="34" charset="0"/>
              </a:rPr>
              <a:t>ADC Clock Circuit 100k Potentiometer (to adjust the back‐light of the LCD)</a:t>
            </a:r>
          </a:p>
          <a:p>
            <a:pPr marL="0" indent="0" algn="just">
              <a:buNone/>
            </a:pPr>
            <a:r>
              <a:rPr lang="en-IN" sz="2600" dirty="0">
                <a:solidFill>
                  <a:srgbClr val="00B050"/>
                </a:solidFill>
                <a:latin typeface="Calibri" panose="020F0502020204030204" pitchFamily="34" charset="0"/>
              </a:rPr>
              <a:t>	1. 10k Resistor</a:t>
            </a:r>
          </a:p>
          <a:p>
            <a:pPr marL="0" indent="0" algn="just">
              <a:buNone/>
            </a:pPr>
            <a:r>
              <a:rPr lang="en-IN" sz="2600" dirty="0">
                <a:solidFill>
                  <a:srgbClr val="00B050"/>
                </a:solidFill>
                <a:latin typeface="Calibri" panose="020F0502020204030204" pitchFamily="34" charset="0"/>
              </a:rPr>
              <a:t>	2. 150pF Capacitor</a:t>
            </a:r>
          </a:p>
          <a:p>
            <a:pPr algn="just"/>
            <a:r>
              <a:rPr lang="en-IN" sz="2600" dirty="0">
                <a:solidFill>
                  <a:srgbClr val="00B050"/>
                </a:solidFill>
                <a:latin typeface="Calibri" panose="020F0502020204030204" pitchFamily="34" charset="0"/>
              </a:rPr>
              <a:t>100k  Potentiometer  (to  adjust  the  back‐light  of  the  LCD)</a:t>
            </a:r>
          </a:p>
          <a:p>
            <a:endParaRPr lang="en-IN" sz="2800" dirty="0"/>
          </a:p>
          <a:p>
            <a:endParaRPr lang="en-IN" dirty="0"/>
          </a:p>
        </p:txBody>
      </p:sp>
    </p:spTree>
    <p:extLst>
      <p:ext uri="{BB962C8B-B14F-4D97-AF65-F5344CB8AC3E}">
        <p14:creationId xmlns:p14="http://schemas.microsoft.com/office/powerpoint/2010/main" val="26656878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961" y="1"/>
            <a:ext cx="11518491" cy="1283109"/>
          </a:xfrm>
        </p:spPr>
        <p:txBody>
          <a:bodyPr>
            <a:normAutofit/>
          </a:bodyPr>
          <a:lstStyle/>
          <a:p>
            <a:pPr algn="ctr"/>
            <a:r>
              <a:rPr lang="en-IN" sz="2800" b="1" dirty="0">
                <a:solidFill>
                  <a:srgbClr val="0070C0"/>
                </a:solidFill>
              </a:rPr>
              <a:t>ANALOG TO DIGITAL CONVERTER(ADC0804)</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02138" y="1470024"/>
            <a:ext cx="4422135" cy="47537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86055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213" y="545690"/>
            <a:ext cx="11518490" cy="6312310"/>
          </a:xfrm>
        </p:spPr>
        <p:txBody>
          <a:bodyPr/>
          <a:lstStyle/>
          <a:p>
            <a:pPr algn="just"/>
            <a:r>
              <a:rPr lang="en-IN" sz="2400" dirty="0">
                <a:solidFill>
                  <a:srgbClr val="00B050"/>
                </a:solidFill>
              </a:rPr>
              <a:t>ADC0804: This is a chip designed to convert analog signal in to 8 bit digital data. </a:t>
            </a:r>
          </a:p>
          <a:p>
            <a:pPr algn="just"/>
            <a:r>
              <a:rPr lang="en-IN" sz="2400" dirty="0">
                <a:solidFill>
                  <a:srgbClr val="00B050"/>
                </a:solidFill>
              </a:rPr>
              <a:t>This chip is one of the popular series of ADC.</a:t>
            </a:r>
          </a:p>
          <a:p>
            <a:pPr algn="just"/>
            <a:r>
              <a:rPr lang="en-IN" sz="2400" dirty="0">
                <a:solidFill>
                  <a:srgbClr val="00B050"/>
                </a:solidFill>
              </a:rPr>
              <a:t>With a measuring voltage of maximum value 5V, we will have a change for every 4.8mV.</a:t>
            </a:r>
          </a:p>
          <a:p>
            <a:pPr algn="just"/>
            <a:r>
              <a:rPr lang="en-IN" sz="2400" dirty="0">
                <a:solidFill>
                  <a:srgbClr val="00B050"/>
                </a:solidFill>
              </a:rPr>
              <a:t>Higher the measuring voltage there will be decrease in resolution and accuracy.</a:t>
            </a:r>
          </a:p>
          <a:p>
            <a:pPr algn="just"/>
            <a:r>
              <a:rPr lang="en-IN" sz="2400" dirty="0">
                <a:solidFill>
                  <a:srgbClr val="00B050"/>
                </a:solidFill>
              </a:rPr>
              <a:t>It works on supply voltage of +5v and can measure a variable voltage range in 0-5V range.</a:t>
            </a:r>
          </a:p>
          <a:p>
            <a:pPr algn="just"/>
            <a:r>
              <a:rPr lang="en-IN" sz="2400" dirty="0">
                <a:solidFill>
                  <a:srgbClr val="00B050"/>
                </a:solidFill>
              </a:rPr>
              <a:t>The ADC will have lots of noise and this noise can greatly affect the performance of ADC, so we use capacitor for noise filtration.</a:t>
            </a:r>
          </a:p>
          <a:p>
            <a:pPr algn="just"/>
            <a:r>
              <a:rPr lang="en-IN" sz="2400" dirty="0">
                <a:solidFill>
                  <a:srgbClr val="00B050"/>
                </a:solidFill>
              </a:rPr>
              <a:t>Without this there will be lots of fluctuation at the output.  </a:t>
            </a:r>
          </a:p>
          <a:p>
            <a:endParaRPr lang="en-IN"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0329" y="4555100"/>
            <a:ext cx="3731341" cy="2045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701020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213" y="0"/>
            <a:ext cx="11547987" cy="6858000"/>
          </a:xfrm>
        </p:spPr>
        <p:txBody>
          <a:bodyPr/>
          <a:lstStyle/>
          <a:p>
            <a:pPr algn="just"/>
            <a:endParaRPr lang="en-IN" sz="2400" b="1" dirty="0">
              <a:solidFill>
                <a:srgbClr val="0070C0"/>
              </a:solidFill>
            </a:endParaRPr>
          </a:p>
          <a:p>
            <a:pPr algn="just"/>
            <a:endParaRPr lang="en-IN" sz="2400" b="1" dirty="0">
              <a:solidFill>
                <a:srgbClr val="0070C0"/>
              </a:solidFill>
            </a:endParaRPr>
          </a:p>
          <a:p>
            <a:pPr algn="just"/>
            <a:r>
              <a:rPr lang="en-IN" sz="2400" dirty="0">
                <a:solidFill>
                  <a:srgbClr val="00B050"/>
                </a:solidFill>
              </a:rPr>
              <a:t>It is a CMOS 8 bit </a:t>
            </a:r>
            <a:r>
              <a:rPr lang="en-IN" sz="2400" u="sng" dirty="0">
                <a:solidFill>
                  <a:srgbClr val="00B050"/>
                </a:solidFill>
              </a:rPr>
              <a:t>successive approximation </a:t>
            </a:r>
            <a:r>
              <a:rPr lang="en-IN" sz="2400" dirty="0">
                <a:solidFill>
                  <a:srgbClr val="00B050"/>
                </a:solidFill>
              </a:rPr>
              <a:t>type A/D converter, which translate the analog voltage at the input into a 8 bit digital word at the output. </a:t>
            </a:r>
          </a:p>
          <a:p>
            <a:pPr algn="just"/>
            <a:endParaRPr lang="en-IN" sz="2400" dirty="0">
              <a:solidFill>
                <a:srgbClr val="00B050"/>
              </a:solidFill>
            </a:endParaRPr>
          </a:p>
          <a:p>
            <a:pPr algn="just"/>
            <a:r>
              <a:rPr lang="en-IN" sz="2400" dirty="0">
                <a:solidFill>
                  <a:srgbClr val="00B050"/>
                </a:solidFill>
              </a:rPr>
              <a:t>An increase in the analog input voltage give a corresponding increase of a single binary count of the encoder of the ADC.</a:t>
            </a:r>
          </a:p>
          <a:p>
            <a:pPr marL="0" indent="0" algn="just">
              <a:buNone/>
            </a:pPr>
            <a:endParaRPr lang="en-IN" sz="2400" dirty="0">
              <a:solidFill>
                <a:srgbClr val="00B050"/>
              </a:solidFill>
            </a:endParaRPr>
          </a:p>
          <a:p>
            <a:pPr algn="just"/>
            <a:r>
              <a:rPr lang="en-IN" sz="2400" dirty="0">
                <a:solidFill>
                  <a:srgbClr val="00B050"/>
                </a:solidFill>
              </a:rPr>
              <a:t>The 8 bit digital word at the output of the encoder (ADC) is loaded into one of the four ports of the microcontroller which is made of 8 data line, where they are computed and converted to the decimal equivalent and sent to the liquid crystal display (LCD) where it displays the decimal value computed by the microcontroller, which indicates the value of the analogue ac/dc voltage signal measured.</a:t>
            </a:r>
          </a:p>
          <a:p>
            <a:pPr algn="just"/>
            <a:endParaRPr lang="en-IN" dirty="0">
              <a:solidFill>
                <a:srgbClr val="00B050"/>
              </a:solidFill>
            </a:endParaRPr>
          </a:p>
          <a:p>
            <a:endParaRPr lang="en-IN" dirty="0"/>
          </a:p>
        </p:txBody>
      </p:sp>
    </p:spTree>
    <p:extLst>
      <p:ext uri="{BB962C8B-B14F-4D97-AF65-F5344CB8AC3E}">
        <p14:creationId xmlns:p14="http://schemas.microsoft.com/office/powerpoint/2010/main" val="808421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0"/>
            <a:ext cx="11518490" cy="1253614"/>
          </a:xfrm>
        </p:spPr>
        <p:txBody>
          <a:bodyPr>
            <a:normAutofit/>
          </a:bodyPr>
          <a:lstStyle/>
          <a:p>
            <a:pPr algn="ctr"/>
            <a:r>
              <a:rPr lang="en-IN" sz="2800" b="1" dirty="0">
                <a:solidFill>
                  <a:srgbClr val="0070C0"/>
                </a:solidFill>
                <a:latin typeface="+mn-lt"/>
              </a:rPr>
              <a:t>SUCCESSIVE APPROXIMATION TYPE ADC</a:t>
            </a:r>
          </a:p>
        </p:txBody>
      </p:sp>
      <p:pic>
        <p:nvPicPr>
          <p:cNvPr id="4"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547" t="2133" b="10264"/>
          <a:stretch/>
        </p:blipFill>
        <p:spPr>
          <a:xfrm>
            <a:off x="2259016" y="1755541"/>
            <a:ext cx="7673968" cy="39070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964200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65" y="1"/>
            <a:ext cx="11518490" cy="1268360"/>
          </a:xfrm>
        </p:spPr>
        <p:txBody>
          <a:bodyPr>
            <a:normAutofit/>
          </a:bodyPr>
          <a:lstStyle/>
          <a:p>
            <a:pPr algn="ctr"/>
            <a:r>
              <a:rPr lang="en-IN" sz="2800" b="1" dirty="0">
                <a:solidFill>
                  <a:srgbClr val="0070C0"/>
                </a:solidFill>
              </a:rPr>
              <a:t>WORKING OF SUCCESSIVE APPROXIMATION ADC</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32307" y="1268361"/>
            <a:ext cx="5502805" cy="52356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62620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716" y="530942"/>
            <a:ext cx="11577484" cy="6327058"/>
          </a:xfrm>
        </p:spPr>
        <p:txBody>
          <a:bodyPr/>
          <a:lstStyle/>
          <a:p>
            <a:r>
              <a:rPr lang="en-IN" u="sng" dirty="0">
                <a:solidFill>
                  <a:srgbClr val="0070C0"/>
                </a:solidFill>
              </a:rPr>
              <a:t>EXAMPLE </a:t>
            </a:r>
            <a:r>
              <a:rPr lang="en-IN" dirty="0">
                <a:solidFill>
                  <a:srgbClr val="0070C0"/>
                </a:solidFill>
              </a:rPr>
              <a:t>:</a:t>
            </a:r>
          </a:p>
          <a:p>
            <a:r>
              <a:rPr lang="en-IN" dirty="0">
                <a:solidFill>
                  <a:srgbClr val="00B050"/>
                </a:solidFill>
              </a:rPr>
              <a:t>Suppose that the unknown analog input voltage is 10.3 V.</a:t>
            </a:r>
          </a:p>
          <a:p>
            <a:endParaRPr lang="en-IN" dirty="0">
              <a:solidFill>
                <a:srgbClr val="00B05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80206262"/>
              </p:ext>
            </p:extLst>
          </p:nvPr>
        </p:nvGraphicFramePr>
        <p:xfrm>
          <a:off x="4689985" y="2979174"/>
          <a:ext cx="5798433" cy="1088240"/>
        </p:xfrm>
        <a:graphic>
          <a:graphicData uri="http://schemas.openxmlformats.org/drawingml/2006/table">
            <a:tbl>
              <a:tblPr firstRow="1" bandRow="1">
                <a:tableStyleId>{5C22544A-7EE6-4342-B048-85BDC9FD1C3A}</a:tableStyleId>
              </a:tblPr>
              <a:tblGrid>
                <a:gridCol w="1395950">
                  <a:extLst>
                    <a:ext uri="{9D8B030D-6E8A-4147-A177-3AD203B41FA5}">
                      <a16:colId xmlns:a16="http://schemas.microsoft.com/office/drawing/2014/main" xmlns="" val="20000"/>
                    </a:ext>
                  </a:extLst>
                </a:gridCol>
                <a:gridCol w="1527392">
                  <a:extLst>
                    <a:ext uri="{9D8B030D-6E8A-4147-A177-3AD203B41FA5}">
                      <a16:colId xmlns:a16="http://schemas.microsoft.com/office/drawing/2014/main" xmlns="" val="20001"/>
                    </a:ext>
                  </a:extLst>
                </a:gridCol>
                <a:gridCol w="1467495">
                  <a:extLst>
                    <a:ext uri="{9D8B030D-6E8A-4147-A177-3AD203B41FA5}">
                      <a16:colId xmlns:a16="http://schemas.microsoft.com/office/drawing/2014/main" xmlns="" val="20002"/>
                    </a:ext>
                  </a:extLst>
                </a:gridCol>
                <a:gridCol w="1407596">
                  <a:extLst>
                    <a:ext uri="{9D8B030D-6E8A-4147-A177-3AD203B41FA5}">
                      <a16:colId xmlns:a16="http://schemas.microsoft.com/office/drawing/2014/main" xmlns="" val="20003"/>
                    </a:ext>
                  </a:extLst>
                </a:gridCol>
              </a:tblGrid>
              <a:tr h="612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lumMod val="85000"/>
                              <a:lumOff val="15000"/>
                            </a:schemeClr>
                          </a:solidFill>
                        </a:rPr>
                        <a:t>(D3)MSB</a:t>
                      </a:r>
                    </a:p>
                  </a:txBody>
                  <a:tcPr marL="68580" marR="68580" marT="34290" marB="34290"/>
                </a:tc>
                <a:tc>
                  <a:txBody>
                    <a:bodyPr/>
                    <a:lstStyle/>
                    <a:p>
                      <a:pPr algn="ctr"/>
                      <a:r>
                        <a:rPr lang="en-IN" sz="1800" dirty="0">
                          <a:solidFill>
                            <a:schemeClr val="tx1">
                              <a:lumMod val="85000"/>
                              <a:lumOff val="15000"/>
                            </a:schemeClr>
                          </a:solidFill>
                        </a:rPr>
                        <a:t>D2</a:t>
                      </a:r>
                    </a:p>
                  </a:txBody>
                  <a:tcPr marL="68580" marR="68580" marT="34290" marB="34290"/>
                </a:tc>
                <a:tc>
                  <a:txBody>
                    <a:bodyPr/>
                    <a:lstStyle/>
                    <a:p>
                      <a:pPr algn="ctr"/>
                      <a:r>
                        <a:rPr lang="en-IN" sz="1800" dirty="0">
                          <a:solidFill>
                            <a:schemeClr val="tx1">
                              <a:lumMod val="85000"/>
                              <a:lumOff val="15000"/>
                            </a:schemeClr>
                          </a:solidFill>
                        </a:rPr>
                        <a:t>D1</a:t>
                      </a:r>
                    </a:p>
                  </a:txBody>
                  <a:tcPr marL="68580" marR="68580" marT="34290" marB="34290"/>
                </a:tc>
                <a:tc>
                  <a:txBody>
                    <a:bodyPr/>
                    <a:lstStyle/>
                    <a:p>
                      <a:pPr algn="ctr"/>
                      <a:r>
                        <a:rPr lang="en-IN" sz="1800" dirty="0">
                          <a:solidFill>
                            <a:schemeClr val="tx1">
                              <a:lumMod val="85000"/>
                              <a:lumOff val="15000"/>
                            </a:schemeClr>
                          </a:solidFill>
                        </a:rPr>
                        <a:t>(D0)LSB</a:t>
                      </a:r>
                    </a:p>
                  </a:txBody>
                  <a:tcPr marL="68580" marR="68580" marT="34290" marB="34290"/>
                </a:tc>
                <a:extLst>
                  <a:ext uri="{0D108BD9-81ED-4DB2-BD59-A6C34878D82A}">
                    <a16:rowId xmlns:a16="http://schemas.microsoft.com/office/drawing/2014/main" xmlns="" val="10000"/>
                  </a:ext>
                </a:extLst>
              </a:tr>
              <a:tr h="475820">
                <a:tc>
                  <a:txBody>
                    <a:bodyPr/>
                    <a:lstStyle/>
                    <a:p>
                      <a:pPr algn="ctr"/>
                      <a:r>
                        <a:rPr lang="en-IN" sz="1800" dirty="0">
                          <a:solidFill>
                            <a:schemeClr val="tx1">
                              <a:lumMod val="85000"/>
                              <a:lumOff val="15000"/>
                            </a:schemeClr>
                          </a:solidFill>
                        </a:rPr>
                        <a:t>1</a:t>
                      </a:r>
                    </a:p>
                  </a:txBody>
                  <a:tcPr marL="68580" marR="68580" marT="34290" marB="34290"/>
                </a:tc>
                <a:tc>
                  <a:txBody>
                    <a:bodyPr/>
                    <a:lstStyle/>
                    <a:p>
                      <a:pPr algn="ctr"/>
                      <a:r>
                        <a:rPr lang="en-IN" sz="1800" dirty="0">
                          <a:solidFill>
                            <a:schemeClr val="tx1">
                              <a:lumMod val="85000"/>
                              <a:lumOff val="15000"/>
                            </a:schemeClr>
                          </a:solidFill>
                        </a:rPr>
                        <a:t>0</a:t>
                      </a:r>
                    </a:p>
                  </a:txBody>
                  <a:tcPr marL="68580" marR="68580" marT="34290" marB="34290"/>
                </a:tc>
                <a:tc>
                  <a:txBody>
                    <a:bodyPr/>
                    <a:lstStyle/>
                    <a:p>
                      <a:pPr algn="ctr"/>
                      <a:r>
                        <a:rPr lang="en-IN" sz="1800" dirty="0">
                          <a:solidFill>
                            <a:schemeClr val="tx1">
                              <a:lumMod val="85000"/>
                              <a:lumOff val="15000"/>
                            </a:schemeClr>
                          </a:solidFill>
                        </a:rPr>
                        <a:t>0</a:t>
                      </a:r>
                    </a:p>
                  </a:txBody>
                  <a:tcPr marL="68580" marR="68580" marT="34290" marB="34290"/>
                </a:tc>
                <a:tc>
                  <a:txBody>
                    <a:bodyPr/>
                    <a:lstStyle/>
                    <a:p>
                      <a:pPr algn="ctr"/>
                      <a:r>
                        <a:rPr lang="en-IN" sz="1800" dirty="0">
                          <a:solidFill>
                            <a:schemeClr val="tx1">
                              <a:lumMod val="85000"/>
                              <a:lumOff val="15000"/>
                            </a:schemeClr>
                          </a:solidFill>
                        </a:rPr>
                        <a:t>0</a:t>
                      </a:r>
                    </a:p>
                  </a:txBody>
                  <a:tcPr marL="68580" marR="68580" marT="34290" marB="34290"/>
                </a:tc>
                <a:extLst>
                  <a:ext uri="{0D108BD9-81ED-4DB2-BD59-A6C34878D82A}">
                    <a16:rowId xmlns:a16="http://schemas.microsoft.com/office/drawing/2014/main" xmlns="" val="10001"/>
                  </a:ext>
                </a:extLst>
              </a:tr>
            </a:tbl>
          </a:graphicData>
        </a:graphic>
      </p:graphicFrame>
      <p:sp>
        <p:nvSpPr>
          <p:cNvPr id="5" name="TextBox 4"/>
          <p:cNvSpPr txBox="1"/>
          <p:nvPr/>
        </p:nvSpPr>
        <p:spPr>
          <a:xfrm>
            <a:off x="1430594" y="3573277"/>
            <a:ext cx="3259391" cy="646331"/>
          </a:xfrm>
          <a:prstGeom prst="rect">
            <a:avLst/>
          </a:prstGeom>
          <a:noFill/>
        </p:spPr>
        <p:txBody>
          <a:bodyPr wrap="square" rtlCol="0">
            <a:spAutoFit/>
          </a:bodyPr>
          <a:lstStyle/>
          <a:p>
            <a:pPr algn="ctr"/>
            <a:r>
              <a:rPr lang="en-IN" sz="3600" dirty="0">
                <a:solidFill>
                  <a:srgbClr val="00B050"/>
                </a:solidFill>
              </a:rPr>
              <a:t>Initially → </a:t>
            </a:r>
          </a:p>
        </p:txBody>
      </p:sp>
      <p:graphicFrame>
        <p:nvGraphicFramePr>
          <p:cNvPr id="6" name="Table 5"/>
          <p:cNvGraphicFramePr>
            <a:graphicFrameLocks noGrp="1"/>
          </p:cNvGraphicFramePr>
          <p:nvPr>
            <p:extLst>
              <p:ext uri="{D42A27DB-BD31-4B8C-83A1-F6EECF244321}">
                <p14:modId xmlns:p14="http://schemas.microsoft.com/office/powerpoint/2010/main" val="4091450840"/>
              </p:ext>
            </p:extLst>
          </p:nvPr>
        </p:nvGraphicFramePr>
        <p:xfrm>
          <a:off x="4689986" y="4513006"/>
          <a:ext cx="5798431" cy="1124560"/>
        </p:xfrm>
        <a:graphic>
          <a:graphicData uri="http://schemas.openxmlformats.org/drawingml/2006/table">
            <a:tbl>
              <a:tblPr firstRow="1" bandRow="1">
                <a:tableStyleId>{5C22544A-7EE6-4342-B048-85BDC9FD1C3A}</a:tableStyleId>
              </a:tblPr>
              <a:tblGrid>
                <a:gridCol w="1395950">
                  <a:extLst>
                    <a:ext uri="{9D8B030D-6E8A-4147-A177-3AD203B41FA5}">
                      <a16:colId xmlns:a16="http://schemas.microsoft.com/office/drawing/2014/main" xmlns="" val="20000"/>
                    </a:ext>
                  </a:extLst>
                </a:gridCol>
                <a:gridCol w="1527391">
                  <a:extLst>
                    <a:ext uri="{9D8B030D-6E8A-4147-A177-3AD203B41FA5}">
                      <a16:colId xmlns:a16="http://schemas.microsoft.com/office/drawing/2014/main" xmlns="" val="20001"/>
                    </a:ext>
                  </a:extLst>
                </a:gridCol>
                <a:gridCol w="1467494">
                  <a:extLst>
                    <a:ext uri="{9D8B030D-6E8A-4147-A177-3AD203B41FA5}">
                      <a16:colId xmlns:a16="http://schemas.microsoft.com/office/drawing/2014/main" xmlns="" val="20002"/>
                    </a:ext>
                  </a:extLst>
                </a:gridCol>
                <a:gridCol w="1407596">
                  <a:extLst>
                    <a:ext uri="{9D8B030D-6E8A-4147-A177-3AD203B41FA5}">
                      <a16:colId xmlns:a16="http://schemas.microsoft.com/office/drawing/2014/main" xmlns="" val="20003"/>
                    </a:ext>
                  </a:extLst>
                </a:gridCol>
              </a:tblGrid>
              <a:tr h="6328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lumMod val="85000"/>
                              <a:lumOff val="15000"/>
                            </a:schemeClr>
                          </a:solidFill>
                        </a:rPr>
                        <a:t>(D3)MSB</a:t>
                      </a:r>
                    </a:p>
                  </a:txBody>
                  <a:tcPr marL="68580" marR="68580" marT="34290" marB="34290"/>
                </a:tc>
                <a:tc>
                  <a:txBody>
                    <a:bodyPr/>
                    <a:lstStyle/>
                    <a:p>
                      <a:pPr algn="ctr"/>
                      <a:r>
                        <a:rPr lang="en-IN" sz="1800" dirty="0">
                          <a:solidFill>
                            <a:schemeClr val="tx1">
                              <a:lumMod val="85000"/>
                              <a:lumOff val="15000"/>
                            </a:schemeClr>
                          </a:solidFill>
                        </a:rPr>
                        <a:t>D2</a:t>
                      </a:r>
                    </a:p>
                  </a:txBody>
                  <a:tcPr marL="68580" marR="68580" marT="34290" marB="34290"/>
                </a:tc>
                <a:tc>
                  <a:txBody>
                    <a:bodyPr/>
                    <a:lstStyle/>
                    <a:p>
                      <a:pPr algn="ctr"/>
                      <a:r>
                        <a:rPr lang="en-IN" sz="1800" dirty="0">
                          <a:solidFill>
                            <a:schemeClr val="tx1">
                              <a:lumMod val="85000"/>
                              <a:lumOff val="15000"/>
                            </a:schemeClr>
                          </a:solidFill>
                        </a:rPr>
                        <a:t>D1</a:t>
                      </a:r>
                    </a:p>
                  </a:txBody>
                  <a:tcPr marL="68580" marR="68580" marT="34290" marB="34290"/>
                </a:tc>
                <a:tc>
                  <a:txBody>
                    <a:bodyPr/>
                    <a:lstStyle/>
                    <a:p>
                      <a:pPr algn="ctr"/>
                      <a:r>
                        <a:rPr lang="en-IN" sz="1800" dirty="0">
                          <a:solidFill>
                            <a:schemeClr val="tx1">
                              <a:lumMod val="85000"/>
                              <a:lumOff val="15000"/>
                            </a:schemeClr>
                          </a:solidFill>
                        </a:rPr>
                        <a:t>(D0)LSB</a:t>
                      </a:r>
                    </a:p>
                  </a:txBody>
                  <a:tcPr marL="68580" marR="68580" marT="34290" marB="34290"/>
                </a:tc>
                <a:extLst>
                  <a:ext uri="{0D108BD9-81ED-4DB2-BD59-A6C34878D82A}">
                    <a16:rowId xmlns:a16="http://schemas.microsoft.com/office/drawing/2014/main" xmlns="" val="10000"/>
                  </a:ext>
                </a:extLst>
              </a:tr>
              <a:tr h="491701">
                <a:tc>
                  <a:txBody>
                    <a:bodyPr/>
                    <a:lstStyle/>
                    <a:p>
                      <a:pPr algn="ctr"/>
                      <a:r>
                        <a:rPr lang="en-IN" sz="1800" dirty="0">
                          <a:solidFill>
                            <a:schemeClr val="tx1">
                              <a:lumMod val="85000"/>
                              <a:lumOff val="15000"/>
                            </a:schemeClr>
                          </a:solidFill>
                        </a:rPr>
                        <a:t>1</a:t>
                      </a:r>
                    </a:p>
                  </a:txBody>
                  <a:tcPr marL="68580" marR="68580" marT="34290" marB="34290"/>
                </a:tc>
                <a:tc>
                  <a:txBody>
                    <a:bodyPr/>
                    <a:lstStyle/>
                    <a:p>
                      <a:pPr algn="ctr"/>
                      <a:r>
                        <a:rPr lang="en-IN" sz="1800" dirty="0">
                          <a:solidFill>
                            <a:schemeClr val="tx1">
                              <a:lumMod val="85000"/>
                              <a:lumOff val="15000"/>
                            </a:schemeClr>
                          </a:solidFill>
                        </a:rPr>
                        <a:t>0</a:t>
                      </a:r>
                    </a:p>
                  </a:txBody>
                  <a:tcPr marL="68580" marR="68580" marT="34290" marB="34290"/>
                </a:tc>
                <a:tc>
                  <a:txBody>
                    <a:bodyPr/>
                    <a:lstStyle/>
                    <a:p>
                      <a:pPr algn="ctr"/>
                      <a:r>
                        <a:rPr lang="en-IN" sz="1800" dirty="0">
                          <a:solidFill>
                            <a:schemeClr val="tx1">
                              <a:lumMod val="85000"/>
                              <a:lumOff val="15000"/>
                            </a:schemeClr>
                          </a:solidFill>
                        </a:rPr>
                        <a:t>1</a:t>
                      </a:r>
                    </a:p>
                  </a:txBody>
                  <a:tcPr marL="68580" marR="68580" marT="34290" marB="34290"/>
                </a:tc>
                <a:tc>
                  <a:txBody>
                    <a:bodyPr/>
                    <a:lstStyle/>
                    <a:p>
                      <a:pPr algn="ctr"/>
                      <a:r>
                        <a:rPr lang="en-IN" sz="1800" dirty="0">
                          <a:solidFill>
                            <a:schemeClr val="tx1">
                              <a:lumMod val="85000"/>
                              <a:lumOff val="15000"/>
                            </a:schemeClr>
                          </a:solidFill>
                        </a:rPr>
                        <a:t>0</a:t>
                      </a:r>
                    </a:p>
                  </a:txBody>
                  <a:tcPr marL="68580" marR="68580" marT="34290" marB="34290"/>
                </a:tc>
                <a:extLst>
                  <a:ext uri="{0D108BD9-81ED-4DB2-BD59-A6C34878D82A}">
                    <a16:rowId xmlns:a16="http://schemas.microsoft.com/office/drawing/2014/main" xmlns="" val="10001"/>
                  </a:ext>
                </a:extLst>
              </a:tr>
            </a:tbl>
          </a:graphicData>
        </a:graphic>
      </p:graphicFrame>
      <p:sp>
        <p:nvSpPr>
          <p:cNvPr id="7" name="TextBox 6"/>
          <p:cNvSpPr txBox="1"/>
          <p:nvPr/>
        </p:nvSpPr>
        <p:spPr>
          <a:xfrm>
            <a:off x="1843549" y="5188161"/>
            <a:ext cx="2846436" cy="646331"/>
          </a:xfrm>
          <a:prstGeom prst="rect">
            <a:avLst/>
          </a:prstGeom>
          <a:noFill/>
        </p:spPr>
        <p:txBody>
          <a:bodyPr wrap="square" rtlCol="0">
            <a:spAutoFit/>
          </a:bodyPr>
          <a:lstStyle/>
          <a:p>
            <a:pPr algn="ctr"/>
            <a:r>
              <a:rPr lang="en-IN" sz="3600" dirty="0">
                <a:solidFill>
                  <a:srgbClr val="00B050"/>
                </a:solidFill>
              </a:rPr>
              <a:t>Final → </a:t>
            </a:r>
          </a:p>
        </p:txBody>
      </p:sp>
    </p:spTree>
    <p:extLst>
      <p:ext uri="{BB962C8B-B14F-4D97-AF65-F5344CB8AC3E}">
        <p14:creationId xmlns:p14="http://schemas.microsoft.com/office/powerpoint/2010/main" val="42058308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2058" y="929147"/>
            <a:ext cx="8887883" cy="53684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82100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093475213"/>
              </p:ext>
            </p:extLst>
          </p:nvPr>
        </p:nvGraphicFramePr>
        <p:xfrm>
          <a:off x="2182763" y="1386347"/>
          <a:ext cx="8067365" cy="4984956"/>
        </p:xfrm>
        <a:graphic>
          <a:graphicData uri="http://schemas.openxmlformats.org/drawingml/2006/table">
            <a:tbl>
              <a:tblPr firstRow="1" bandRow="1">
                <a:tableStyleId>{5C22544A-7EE6-4342-B048-85BDC9FD1C3A}</a:tableStyleId>
              </a:tblPr>
              <a:tblGrid>
                <a:gridCol w="1613473">
                  <a:extLst>
                    <a:ext uri="{9D8B030D-6E8A-4147-A177-3AD203B41FA5}">
                      <a16:colId xmlns:a16="http://schemas.microsoft.com/office/drawing/2014/main" xmlns="" val="20000"/>
                    </a:ext>
                  </a:extLst>
                </a:gridCol>
                <a:gridCol w="1613473">
                  <a:extLst>
                    <a:ext uri="{9D8B030D-6E8A-4147-A177-3AD203B41FA5}">
                      <a16:colId xmlns:a16="http://schemas.microsoft.com/office/drawing/2014/main" xmlns="" val="20001"/>
                    </a:ext>
                  </a:extLst>
                </a:gridCol>
                <a:gridCol w="1613473">
                  <a:extLst>
                    <a:ext uri="{9D8B030D-6E8A-4147-A177-3AD203B41FA5}">
                      <a16:colId xmlns:a16="http://schemas.microsoft.com/office/drawing/2014/main" xmlns="" val="20002"/>
                    </a:ext>
                  </a:extLst>
                </a:gridCol>
                <a:gridCol w="1613473">
                  <a:extLst>
                    <a:ext uri="{9D8B030D-6E8A-4147-A177-3AD203B41FA5}">
                      <a16:colId xmlns:a16="http://schemas.microsoft.com/office/drawing/2014/main" xmlns="" val="20003"/>
                    </a:ext>
                  </a:extLst>
                </a:gridCol>
                <a:gridCol w="1613473">
                  <a:extLst>
                    <a:ext uri="{9D8B030D-6E8A-4147-A177-3AD203B41FA5}">
                      <a16:colId xmlns:a16="http://schemas.microsoft.com/office/drawing/2014/main" xmlns="" val="20004"/>
                    </a:ext>
                  </a:extLst>
                </a:gridCol>
              </a:tblGrid>
              <a:tr h="1300454">
                <a:tc>
                  <a:txBody>
                    <a:bodyPr/>
                    <a:lstStyle/>
                    <a:p>
                      <a:pPr algn="ctr"/>
                      <a:r>
                        <a:rPr lang="en-IN" sz="1800" b="0" dirty="0"/>
                        <a:t>Converter Type</a:t>
                      </a:r>
                    </a:p>
                  </a:txBody>
                  <a:tcPr marL="68580" marR="68580" marT="34290" marB="34290"/>
                </a:tc>
                <a:tc>
                  <a:txBody>
                    <a:bodyPr/>
                    <a:lstStyle/>
                    <a:p>
                      <a:pPr algn="ctr"/>
                      <a:r>
                        <a:rPr lang="en-IN" sz="1800" b="0" dirty="0"/>
                        <a:t>Speed</a:t>
                      </a:r>
                    </a:p>
                  </a:txBody>
                  <a:tcPr marL="68580" marR="68580" marT="34290" marB="34290"/>
                </a:tc>
                <a:tc>
                  <a:txBody>
                    <a:bodyPr/>
                    <a:lstStyle/>
                    <a:p>
                      <a:pPr algn="ctr"/>
                      <a:r>
                        <a:rPr lang="en-IN" sz="1800" b="0" dirty="0"/>
                        <a:t>Resolution</a:t>
                      </a:r>
                    </a:p>
                  </a:txBody>
                  <a:tcPr marL="68580" marR="68580" marT="34290" marB="34290"/>
                </a:tc>
                <a:tc>
                  <a:txBody>
                    <a:bodyPr/>
                    <a:lstStyle/>
                    <a:p>
                      <a:pPr algn="ctr"/>
                      <a:r>
                        <a:rPr lang="en-IN" sz="1800" b="0" dirty="0"/>
                        <a:t>Noise</a:t>
                      </a:r>
                      <a:r>
                        <a:rPr lang="en-IN" sz="1800" b="0" baseline="0" dirty="0"/>
                        <a:t> Immunity</a:t>
                      </a:r>
                      <a:endParaRPr lang="en-IN" sz="1800" b="0" dirty="0"/>
                    </a:p>
                  </a:txBody>
                  <a:tcPr marL="68580" marR="68580" marT="34290" marB="34290"/>
                </a:tc>
                <a:tc>
                  <a:txBody>
                    <a:bodyPr/>
                    <a:lstStyle/>
                    <a:p>
                      <a:pPr algn="ctr"/>
                      <a:r>
                        <a:rPr lang="en-IN" sz="1800" b="0" dirty="0"/>
                        <a:t>Cost</a:t>
                      </a:r>
                    </a:p>
                  </a:txBody>
                  <a:tcPr marL="68580" marR="68580" marT="34290" marB="34290"/>
                </a:tc>
                <a:extLst>
                  <a:ext uri="{0D108BD9-81ED-4DB2-BD59-A6C34878D82A}">
                    <a16:rowId xmlns:a16="http://schemas.microsoft.com/office/drawing/2014/main" xmlns="" val="10000"/>
                  </a:ext>
                </a:extLst>
              </a:tr>
              <a:tr h="1011604">
                <a:tc>
                  <a:txBody>
                    <a:bodyPr/>
                    <a:lstStyle/>
                    <a:p>
                      <a:pPr algn="ctr"/>
                      <a:r>
                        <a:rPr lang="en-IN" sz="1800" b="0" dirty="0">
                          <a:solidFill>
                            <a:schemeClr val="tx1">
                              <a:lumMod val="95000"/>
                              <a:lumOff val="5000"/>
                            </a:schemeClr>
                          </a:solidFill>
                        </a:rPr>
                        <a:t>Voltage to frequency</a:t>
                      </a:r>
                    </a:p>
                  </a:txBody>
                  <a:tcPr marL="68580" marR="68580" marT="34290" marB="34290"/>
                </a:tc>
                <a:tc>
                  <a:txBody>
                    <a:bodyPr/>
                    <a:lstStyle/>
                    <a:p>
                      <a:pPr algn="ctr"/>
                      <a:r>
                        <a:rPr lang="en-IN" sz="1800" b="0" dirty="0">
                          <a:solidFill>
                            <a:schemeClr val="tx1">
                              <a:lumMod val="95000"/>
                              <a:lumOff val="5000"/>
                            </a:schemeClr>
                          </a:solidFill>
                        </a:rPr>
                        <a:t>slow</a:t>
                      </a:r>
                    </a:p>
                  </a:txBody>
                  <a:tcPr marL="68580" marR="68580" marT="34290" marB="34290"/>
                </a:tc>
                <a:tc>
                  <a:txBody>
                    <a:bodyPr/>
                    <a:lstStyle/>
                    <a:p>
                      <a:pPr algn="ctr"/>
                      <a:r>
                        <a:rPr lang="en-IN" sz="1800" b="0" dirty="0">
                          <a:solidFill>
                            <a:schemeClr val="tx1">
                              <a:lumMod val="95000"/>
                              <a:lumOff val="5000"/>
                            </a:schemeClr>
                          </a:solidFill>
                        </a:rPr>
                        <a:t>14-24</a:t>
                      </a:r>
                    </a:p>
                  </a:txBody>
                  <a:tcPr marL="68580" marR="68580" marT="34290" marB="34290"/>
                </a:tc>
                <a:tc>
                  <a:txBody>
                    <a:bodyPr/>
                    <a:lstStyle/>
                    <a:p>
                      <a:pPr algn="ctr"/>
                      <a:r>
                        <a:rPr lang="en-IN" sz="1800" b="0" dirty="0">
                          <a:solidFill>
                            <a:schemeClr val="tx1">
                              <a:lumMod val="95000"/>
                              <a:lumOff val="5000"/>
                            </a:schemeClr>
                          </a:solidFill>
                        </a:rPr>
                        <a:t>Good</a:t>
                      </a:r>
                    </a:p>
                  </a:txBody>
                  <a:tcPr marL="68580" marR="68580" marT="34290" marB="34290"/>
                </a:tc>
                <a:tc>
                  <a:txBody>
                    <a:bodyPr/>
                    <a:lstStyle/>
                    <a:p>
                      <a:pPr algn="ctr"/>
                      <a:r>
                        <a:rPr lang="en-IN" sz="1800" b="0" dirty="0">
                          <a:solidFill>
                            <a:schemeClr val="tx1">
                              <a:lumMod val="95000"/>
                              <a:lumOff val="5000"/>
                            </a:schemeClr>
                          </a:solidFill>
                        </a:rPr>
                        <a:t>Medium</a:t>
                      </a:r>
                    </a:p>
                  </a:txBody>
                  <a:tcPr marL="68580" marR="68580" marT="34290" marB="34290"/>
                </a:tc>
                <a:extLst>
                  <a:ext uri="{0D108BD9-81ED-4DB2-BD59-A6C34878D82A}">
                    <a16:rowId xmlns:a16="http://schemas.microsoft.com/office/drawing/2014/main" xmlns="" val="10001"/>
                  </a:ext>
                </a:extLst>
              </a:tr>
              <a:tr h="970286">
                <a:tc>
                  <a:txBody>
                    <a:bodyPr/>
                    <a:lstStyle/>
                    <a:p>
                      <a:pPr algn="ctr"/>
                      <a:r>
                        <a:rPr lang="en-IN" sz="1800" b="0" dirty="0">
                          <a:solidFill>
                            <a:schemeClr val="tx1">
                              <a:lumMod val="95000"/>
                              <a:lumOff val="5000"/>
                            </a:schemeClr>
                          </a:solidFill>
                        </a:rPr>
                        <a:t>Dual Slope</a:t>
                      </a:r>
                    </a:p>
                  </a:txBody>
                  <a:tcPr marL="68580" marR="68580" marT="34290" marB="34290"/>
                </a:tc>
                <a:tc>
                  <a:txBody>
                    <a:bodyPr/>
                    <a:lstStyle/>
                    <a:p>
                      <a:pPr algn="ctr"/>
                      <a:r>
                        <a:rPr lang="en-IN" sz="1800" b="0" dirty="0">
                          <a:solidFill>
                            <a:schemeClr val="tx1">
                              <a:lumMod val="95000"/>
                              <a:lumOff val="5000"/>
                            </a:schemeClr>
                          </a:solidFill>
                        </a:rPr>
                        <a:t>slow</a:t>
                      </a:r>
                    </a:p>
                  </a:txBody>
                  <a:tcPr marL="68580" marR="68580" marT="34290" marB="34290"/>
                </a:tc>
                <a:tc>
                  <a:txBody>
                    <a:bodyPr/>
                    <a:lstStyle/>
                    <a:p>
                      <a:pPr algn="ctr"/>
                      <a:r>
                        <a:rPr lang="en-IN" sz="1800" b="0" dirty="0">
                          <a:solidFill>
                            <a:schemeClr val="tx1">
                              <a:lumMod val="95000"/>
                              <a:lumOff val="5000"/>
                            </a:schemeClr>
                          </a:solidFill>
                        </a:rPr>
                        <a:t>12-18</a:t>
                      </a:r>
                    </a:p>
                  </a:txBody>
                  <a:tcPr marL="68580" marR="68580" marT="34290" marB="34290"/>
                </a:tc>
                <a:tc>
                  <a:txBody>
                    <a:bodyPr/>
                    <a:lstStyle/>
                    <a:p>
                      <a:pPr algn="ctr"/>
                      <a:r>
                        <a:rPr lang="en-IN" sz="1800" b="0" dirty="0">
                          <a:solidFill>
                            <a:schemeClr val="tx1">
                              <a:lumMod val="95000"/>
                              <a:lumOff val="5000"/>
                            </a:schemeClr>
                          </a:solidFill>
                        </a:rPr>
                        <a:t>Good</a:t>
                      </a:r>
                    </a:p>
                  </a:txBody>
                  <a:tcPr marL="68580" marR="68580" marT="34290" marB="34290"/>
                </a:tc>
                <a:tc>
                  <a:txBody>
                    <a:bodyPr/>
                    <a:lstStyle/>
                    <a:p>
                      <a:pPr algn="ctr"/>
                      <a:r>
                        <a:rPr lang="en-IN" sz="1800" b="0" dirty="0">
                          <a:solidFill>
                            <a:schemeClr val="tx1">
                              <a:lumMod val="95000"/>
                              <a:lumOff val="5000"/>
                            </a:schemeClr>
                          </a:solidFill>
                        </a:rPr>
                        <a:t>Low</a:t>
                      </a:r>
                    </a:p>
                  </a:txBody>
                  <a:tcPr marL="68580" marR="68580" marT="34290" marB="34290"/>
                </a:tc>
                <a:extLst>
                  <a:ext uri="{0D108BD9-81ED-4DB2-BD59-A6C34878D82A}">
                    <a16:rowId xmlns:a16="http://schemas.microsoft.com/office/drawing/2014/main" xmlns="" val="10002"/>
                  </a:ext>
                </a:extLst>
              </a:tr>
              <a:tr h="949175">
                <a:tc>
                  <a:txBody>
                    <a:bodyPr/>
                    <a:lstStyle/>
                    <a:p>
                      <a:pPr algn="ctr"/>
                      <a:r>
                        <a:rPr lang="en-IN" sz="1800" b="0" dirty="0">
                          <a:solidFill>
                            <a:schemeClr val="tx1">
                              <a:lumMod val="95000"/>
                              <a:lumOff val="5000"/>
                            </a:schemeClr>
                          </a:solidFill>
                        </a:rPr>
                        <a:t>Successive Approximation</a:t>
                      </a:r>
                    </a:p>
                  </a:txBody>
                  <a:tcPr marL="68580" marR="68580" marT="34290" marB="34290"/>
                </a:tc>
                <a:tc>
                  <a:txBody>
                    <a:bodyPr/>
                    <a:lstStyle/>
                    <a:p>
                      <a:pPr algn="ctr"/>
                      <a:r>
                        <a:rPr lang="en-IN" sz="1800" b="0" dirty="0">
                          <a:solidFill>
                            <a:schemeClr val="tx1">
                              <a:lumMod val="95000"/>
                              <a:lumOff val="5000"/>
                            </a:schemeClr>
                          </a:solidFill>
                        </a:rPr>
                        <a:t>Medium</a:t>
                      </a:r>
                    </a:p>
                  </a:txBody>
                  <a:tcPr marL="68580" marR="68580" marT="34290" marB="34290"/>
                </a:tc>
                <a:tc>
                  <a:txBody>
                    <a:bodyPr/>
                    <a:lstStyle/>
                    <a:p>
                      <a:pPr algn="ctr"/>
                      <a:r>
                        <a:rPr lang="en-IN" sz="1800" b="0" dirty="0">
                          <a:solidFill>
                            <a:schemeClr val="tx1">
                              <a:lumMod val="95000"/>
                              <a:lumOff val="5000"/>
                            </a:schemeClr>
                          </a:solidFill>
                        </a:rPr>
                        <a:t>10-16</a:t>
                      </a:r>
                    </a:p>
                  </a:txBody>
                  <a:tcPr marL="68580" marR="68580" marT="34290" marB="34290"/>
                </a:tc>
                <a:tc>
                  <a:txBody>
                    <a:bodyPr/>
                    <a:lstStyle/>
                    <a:p>
                      <a:pPr algn="ctr"/>
                      <a:r>
                        <a:rPr lang="en-IN" sz="1800" b="0" dirty="0">
                          <a:solidFill>
                            <a:schemeClr val="tx1">
                              <a:lumMod val="95000"/>
                              <a:lumOff val="5000"/>
                            </a:schemeClr>
                          </a:solidFill>
                        </a:rPr>
                        <a:t>Little</a:t>
                      </a:r>
                    </a:p>
                  </a:txBody>
                  <a:tcPr marL="68580" marR="68580" marT="34290" marB="34290"/>
                </a:tc>
                <a:tc>
                  <a:txBody>
                    <a:bodyPr/>
                    <a:lstStyle/>
                    <a:p>
                      <a:pPr algn="ctr"/>
                      <a:r>
                        <a:rPr lang="en-IN" sz="1800" b="0" dirty="0">
                          <a:solidFill>
                            <a:schemeClr val="tx1">
                              <a:lumMod val="95000"/>
                              <a:lumOff val="5000"/>
                            </a:schemeClr>
                          </a:solidFill>
                        </a:rPr>
                        <a:t>Low</a:t>
                      </a:r>
                    </a:p>
                  </a:txBody>
                  <a:tcPr marL="68580" marR="68580" marT="34290" marB="34290"/>
                </a:tc>
                <a:extLst>
                  <a:ext uri="{0D108BD9-81ED-4DB2-BD59-A6C34878D82A}">
                    <a16:rowId xmlns:a16="http://schemas.microsoft.com/office/drawing/2014/main" xmlns="" val="10003"/>
                  </a:ext>
                </a:extLst>
              </a:tr>
              <a:tr h="753437">
                <a:tc>
                  <a:txBody>
                    <a:bodyPr/>
                    <a:lstStyle/>
                    <a:p>
                      <a:pPr algn="ctr"/>
                      <a:r>
                        <a:rPr lang="en-IN" sz="1800" b="0" dirty="0">
                          <a:solidFill>
                            <a:schemeClr val="tx1">
                              <a:lumMod val="95000"/>
                              <a:lumOff val="5000"/>
                            </a:schemeClr>
                          </a:solidFill>
                        </a:rPr>
                        <a:t>Flash</a:t>
                      </a:r>
                    </a:p>
                  </a:txBody>
                  <a:tcPr marL="68580" marR="68580" marT="34290" marB="34290"/>
                </a:tc>
                <a:tc>
                  <a:txBody>
                    <a:bodyPr/>
                    <a:lstStyle/>
                    <a:p>
                      <a:pPr algn="ctr"/>
                      <a:r>
                        <a:rPr lang="en-IN" sz="1800" b="0" dirty="0">
                          <a:solidFill>
                            <a:schemeClr val="tx1">
                              <a:lumMod val="95000"/>
                              <a:lumOff val="5000"/>
                            </a:schemeClr>
                          </a:solidFill>
                        </a:rPr>
                        <a:t>Fast</a:t>
                      </a:r>
                    </a:p>
                  </a:txBody>
                  <a:tcPr marL="68580" marR="68580" marT="34290" marB="34290"/>
                </a:tc>
                <a:tc>
                  <a:txBody>
                    <a:bodyPr/>
                    <a:lstStyle/>
                    <a:p>
                      <a:pPr algn="ctr"/>
                      <a:r>
                        <a:rPr lang="en-IN" sz="1800" b="0" dirty="0">
                          <a:solidFill>
                            <a:schemeClr val="tx1">
                              <a:lumMod val="95000"/>
                              <a:lumOff val="5000"/>
                            </a:schemeClr>
                          </a:solidFill>
                        </a:rPr>
                        <a:t>4-8</a:t>
                      </a:r>
                    </a:p>
                  </a:txBody>
                  <a:tcPr marL="68580" marR="68580" marT="34290" marB="34290"/>
                </a:tc>
                <a:tc>
                  <a:txBody>
                    <a:bodyPr/>
                    <a:lstStyle/>
                    <a:p>
                      <a:pPr algn="ctr"/>
                      <a:r>
                        <a:rPr lang="en-IN" sz="1800" b="0" dirty="0">
                          <a:solidFill>
                            <a:schemeClr val="tx1">
                              <a:lumMod val="95000"/>
                              <a:lumOff val="5000"/>
                            </a:schemeClr>
                          </a:solidFill>
                        </a:rPr>
                        <a:t>Little</a:t>
                      </a:r>
                    </a:p>
                  </a:txBody>
                  <a:tcPr marL="68580" marR="68580" marT="34290" marB="34290"/>
                </a:tc>
                <a:tc>
                  <a:txBody>
                    <a:bodyPr/>
                    <a:lstStyle/>
                    <a:p>
                      <a:pPr algn="ctr"/>
                      <a:r>
                        <a:rPr lang="en-IN" sz="1800" b="0" dirty="0">
                          <a:solidFill>
                            <a:schemeClr val="tx1">
                              <a:lumMod val="95000"/>
                              <a:lumOff val="5000"/>
                            </a:schemeClr>
                          </a:solidFill>
                        </a:rPr>
                        <a:t>High</a:t>
                      </a:r>
                    </a:p>
                  </a:txBody>
                  <a:tcPr marL="68580" marR="68580" marT="34290" marB="34290"/>
                </a:tc>
                <a:extLst>
                  <a:ext uri="{0D108BD9-81ED-4DB2-BD59-A6C34878D82A}">
                    <a16:rowId xmlns:a16="http://schemas.microsoft.com/office/drawing/2014/main" xmlns="" val="10004"/>
                  </a:ext>
                </a:extLst>
              </a:tr>
            </a:tbl>
          </a:graphicData>
        </a:graphic>
      </p:graphicFrame>
      <p:sp>
        <p:nvSpPr>
          <p:cNvPr id="6" name="TextBox 5"/>
          <p:cNvSpPr txBox="1"/>
          <p:nvPr/>
        </p:nvSpPr>
        <p:spPr>
          <a:xfrm>
            <a:off x="339213" y="132735"/>
            <a:ext cx="11518490" cy="523220"/>
          </a:xfrm>
          <a:prstGeom prst="rect">
            <a:avLst/>
          </a:prstGeom>
          <a:noFill/>
        </p:spPr>
        <p:txBody>
          <a:bodyPr wrap="square" rtlCol="0">
            <a:spAutoFit/>
          </a:bodyPr>
          <a:lstStyle/>
          <a:p>
            <a:pPr algn="ctr"/>
            <a:r>
              <a:rPr lang="en-IN" sz="2800" b="1" dirty="0">
                <a:solidFill>
                  <a:srgbClr val="0070C0"/>
                </a:solidFill>
              </a:rPr>
              <a:t>Why Successive Approximation Type of ADC ?</a:t>
            </a:r>
          </a:p>
        </p:txBody>
      </p:sp>
    </p:spTree>
    <p:extLst>
      <p:ext uri="{BB962C8B-B14F-4D97-AF65-F5344CB8AC3E}">
        <p14:creationId xmlns:p14="http://schemas.microsoft.com/office/powerpoint/2010/main" val="14381747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1"/>
            <a:ext cx="11518490" cy="1268360"/>
          </a:xfrm>
        </p:spPr>
        <p:txBody>
          <a:bodyPr>
            <a:normAutofit/>
          </a:bodyPr>
          <a:lstStyle/>
          <a:p>
            <a:pPr algn="ctr"/>
            <a:r>
              <a:rPr lang="en-IN" sz="2800" b="1" dirty="0">
                <a:solidFill>
                  <a:srgbClr val="0070C0"/>
                </a:solidFill>
                <a:latin typeface="+mn-lt"/>
              </a:rPr>
              <a:t>DIGITAL AC VOLTMETER</a:t>
            </a:r>
          </a:p>
        </p:txBody>
      </p:sp>
      <p:sp>
        <p:nvSpPr>
          <p:cNvPr id="3" name="Content Placeholder 2"/>
          <p:cNvSpPr>
            <a:spLocks noGrp="1"/>
          </p:cNvSpPr>
          <p:nvPr>
            <p:ph idx="1"/>
          </p:nvPr>
        </p:nvSpPr>
        <p:spPr>
          <a:xfrm>
            <a:off x="339213" y="1268360"/>
            <a:ext cx="11518490" cy="5589639"/>
          </a:xfrm>
        </p:spPr>
        <p:txBody>
          <a:bodyPr>
            <a:normAutofit/>
          </a:bodyPr>
          <a:lstStyle/>
          <a:p>
            <a:pPr algn="just"/>
            <a:r>
              <a:rPr lang="en-IN" sz="2400" dirty="0">
                <a:solidFill>
                  <a:srgbClr val="00B050"/>
                </a:solidFill>
              </a:rPr>
              <a:t>It has a large range from 0V to 1000V.</a:t>
            </a:r>
          </a:p>
          <a:p>
            <a:pPr algn="just"/>
            <a:r>
              <a:rPr lang="en-IN" sz="2400" dirty="0">
                <a:solidFill>
                  <a:srgbClr val="00B050"/>
                </a:solidFill>
              </a:rPr>
              <a:t>The output is shown on 7 segment display .</a:t>
            </a:r>
          </a:p>
          <a:p>
            <a:pPr algn="just"/>
            <a:r>
              <a:rPr lang="en-IN" sz="2400" dirty="0">
                <a:solidFill>
                  <a:srgbClr val="00B050"/>
                </a:solidFill>
              </a:rPr>
              <a:t>PIC 16f676 microcontroller is used in this circuit.</a:t>
            </a:r>
          </a:p>
          <a:p>
            <a:pPr algn="just"/>
            <a:r>
              <a:rPr lang="en-IN" sz="2400" dirty="0">
                <a:solidFill>
                  <a:srgbClr val="00B050"/>
                </a:solidFill>
              </a:rPr>
              <a:t>The main part of this AC voltmeter project are ::-</a:t>
            </a:r>
          </a:p>
          <a:p>
            <a:pPr marL="0" lvl="0" indent="0" algn="just">
              <a:buNone/>
            </a:pPr>
            <a:r>
              <a:rPr lang="en-IN" sz="2400" dirty="0">
                <a:solidFill>
                  <a:srgbClr val="00B050"/>
                </a:solidFill>
              </a:rPr>
              <a:t>1) Converting Circuit (For converting Ac to dc in range of 0-5V)</a:t>
            </a:r>
          </a:p>
          <a:p>
            <a:pPr marL="0" lvl="0" indent="0" algn="just">
              <a:buNone/>
            </a:pPr>
            <a:r>
              <a:rPr lang="en-IN" sz="2400" dirty="0">
                <a:solidFill>
                  <a:srgbClr val="00B050"/>
                </a:solidFill>
              </a:rPr>
              <a:t>2) ADC Interfacing(10 bit Inbuilt ADC of 16F676)</a:t>
            </a:r>
          </a:p>
          <a:p>
            <a:pPr marL="0" lvl="0" indent="0" algn="just">
              <a:buNone/>
            </a:pPr>
            <a:r>
              <a:rPr lang="en-IN" sz="2400" dirty="0">
                <a:solidFill>
                  <a:srgbClr val="00B050"/>
                </a:solidFill>
              </a:rPr>
              <a:t>3) 7 Segment Multiplexing</a:t>
            </a:r>
          </a:p>
          <a:p>
            <a:pPr algn="just"/>
            <a:endParaRPr lang="en-IN" sz="2400" dirty="0">
              <a:solidFill>
                <a:srgbClr val="00B050"/>
              </a:solidFill>
            </a:endParaRPr>
          </a:p>
        </p:txBody>
      </p:sp>
    </p:spTree>
    <p:extLst>
      <p:ext uri="{BB962C8B-B14F-4D97-AF65-F5344CB8AC3E}">
        <p14:creationId xmlns:p14="http://schemas.microsoft.com/office/powerpoint/2010/main" val="3295854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961" y="1"/>
            <a:ext cx="11547987" cy="1312605"/>
          </a:xfrm>
        </p:spPr>
        <p:txBody>
          <a:bodyPr>
            <a:normAutofit/>
          </a:bodyPr>
          <a:lstStyle/>
          <a:p>
            <a:pPr algn="ctr"/>
            <a:r>
              <a:rPr lang="en-IN" sz="2800" b="1" dirty="0">
                <a:solidFill>
                  <a:srgbClr val="0070C0"/>
                </a:solidFill>
                <a:latin typeface="+mn-lt"/>
              </a:rPr>
              <a:t>CONVERTING CIRCUIT</a:t>
            </a:r>
          </a:p>
        </p:txBody>
      </p:sp>
      <p:pic>
        <p:nvPicPr>
          <p:cNvPr id="4" name="Picture 4" descr="AC Voltmeter Converting Circui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67780" y="2388893"/>
            <a:ext cx="8856440" cy="27730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52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213" y="0"/>
            <a:ext cx="11503742" cy="6858000"/>
          </a:xfrm>
        </p:spPr>
        <p:txBody>
          <a:bodyPr>
            <a:normAutofit/>
          </a:bodyPr>
          <a:lstStyle/>
          <a:p>
            <a:pPr algn="just"/>
            <a:endParaRPr lang="en-IN" sz="2400" b="1" dirty="0">
              <a:solidFill>
                <a:srgbClr val="0070C0"/>
              </a:solidFill>
            </a:endParaRPr>
          </a:p>
          <a:p>
            <a:pPr algn="just"/>
            <a:endParaRPr lang="en-IN" sz="2400" b="1" dirty="0">
              <a:solidFill>
                <a:srgbClr val="0070C0"/>
              </a:solidFill>
            </a:endParaRPr>
          </a:p>
          <a:p>
            <a:pPr algn="just"/>
            <a:r>
              <a:rPr lang="en-IN" sz="2400" dirty="0">
                <a:solidFill>
                  <a:srgbClr val="00B050"/>
                </a:solidFill>
              </a:rPr>
              <a:t>The bridge rectifier which is made from diodes In4007</a:t>
            </a:r>
          </a:p>
          <a:p>
            <a:pPr algn="just"/>
            <a:endParaRPr lang="en-IN" sz="2400" dirty="0">
              <a:solidFill>
                <a:srgbClr val="00B050"/>
              </a:solidFill>
            </a:endParaRPr>
          </a:p>
          <a:p>
            <a:pPr algn="just"/>
            <a:r>
              <a:rPr lang="en-IN" sz="2400" dirty="0">
                <a:solidFill>
                  <a:srgbClr val="00B050"/>
                </a:solidFill>
              </a:rPr>
              <a:t>It convert Ac Voltage to Dc Voltage. </a:t>
            </a:r>
          </a:p>
          <a:p>
            <a:pPr algn="just"/>
            <a:endParaRPr lang="en-IN" sz="2400" dirty="0">
              <a:solidFill>
                <a:srgbClr val="00B050"/>
              </a:solidFill>
            </a:endParaRPr>
          </a:p>
          <a:p>
            <a:pPr algn="just"/>
            <a:r>
              <a:rPr lang="en-IN" sz="2400" dirty="0">
                <a:solidFill>
                  <a:srgbClr val="00B050"/>
                </a:solidFill>
              </a:rPr>
              <a:t>Next is Voltage divider circuit which converts any voltage from 0 to 1000v to 0 to 5v range. </a:t>
            </a:r>
          </a:p>
          <a:p>
            <a:pPr algn="just"/>
            <a:endParaRPr lang="en-IN" sz="2400" dirty="0">
              <a:solidFill>
                <a:srgbClr val="00B050"/>
              </a:solidFill>
            </a:endParaRPr>
          </a:p>
          <a:p>
            <a:pPr algn="just"/>
            <a:r>
              <a:rPr lang="en-IN" sz="2400" dirty="0">
                <a:solidFill>
                  <a:srgbClr val="00B050"/>
                </a:solidFill>
              </a:rPr>
              <a:t>It is made using two resistors and a potential meter in series. </a:t>
            </a:r>
          </a:p>
          <a:p>
            <a:pPr algn="just"/>
            <a:endParaRPr lang="en-IN" sz="2400" dirty="0">
              <a:solidFill>
                <a:srgbClr val="00B050"/>
              </a:solidFill>
            </a:endParaRPr>
          </a:p>
          <a:p>
            <a:pPr algn="just"/>
            <a:r>
              <a:rPr lang="en-IN" sz="2400" dirty="0">
                <a:solidFill>
                  <a:srgbClr val="00B050"/>
                </a:solidFill>
              </a:rPr>
              <a:t>Next capacitor is used for removing ripples .</a:t>
            </a:r>
          </a:p>
          <a:p>
            <a:pPr algn="just"/>
            <a:endParaRPr lang="en-IN" sz="2400" dirty="0">
              <a:solidFill>
                <a:srgbClr val="00B050"/>
              </a:solidFill>
            </a:endParaRPr>
          </a:p>
          <a:p>
            <a:pPr algn="just"/>
            <a:r>
              <a:rPr lang="en-IN" sz="2400" dirty="0">
                <a:solidFill>
                  <a:srgbClr val="00B050"/>
                </a:solidFill>
              </a:rPr>
              <a:t>The Zener 5.1V is used for protection and it will never give voltage to controller more than 5.1 V.  </a:t>
            </a:r>
          </a:p>
        </p:txBody>
      </p:sp>
    </p:spTree>
    <p:extLst>
      <p:ext uri="{BB962C8B-B14F-4D97-AF65-F5344CB8AC3E}">
        <p14:creationId xmlns:p14="http://schemas.microsoft.com/office/powerpoint/2010/main" val="34044163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51551"/>
          </a:xfrm>
        </p:spPr>
        <p:txBody>
          <a:bodyPr/>
          <a:lstStyle/>
          <a:p>
            <a:pPr algn="ctr"/>
            <a:r>
              <a:rPr lang="en-IN" sz="2800" b="1" dirty="0" smtClean="0">
                <a:solidFill>
                  <a:srgbClr val="0070C0"/>
                </a:solidFill>
                <a:latin typeface="+mn-lt"/>
              </a:rPr>
              <a:t>ADC INTERFACING</a:t>
            </a:r>
            <a:endParaRPr lang="en-IN" sz="2800" b="1" dirty="0">
              <a:solidFill>
                <a:srgbClr val="0070C0"/>
              </a:solidFill>
              <a:latin typeface="+mn-lt"/>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3343003" y="375548"/>
            <a:ext cx="5505994"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746161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03067"/>
          </a:xfrm>
        </p:spPr>
        <p:txBody>
          <a:bodyPr>
            <a:normAutofit/>
          </a:bodyPr>
          <a:lstStyle/>
          <a:p>
            <a:pPr algn="ctr"/>
            <a:r>
              <a:rPr lang="en-IN" sz="2800" b="1" dirty="0" smtClean="0">
                <a:solidFill>
                  <a:srgbClr val="0070C0"/>
                </a:solidFill>
                <a:latin typeface="+mn-lt"/>
              </a:rPr>
              <a:t>PIN CONFIGURATION</a:t>
            </a:r>
            <a:endParaRPr lang="en-IN" sz="2800" b="1" dirty="0">
              <a:solidFill>
                <a:srgbClr val="0070C0"/>
              </a:solidFill>
              <a:latin typeface="+mn-lt"/>
            </a:endParaRPr>
          </a:p>
        </p:txBody>
      </p:sp>
      <p:sp>
        <p:nvSpPr>
          <p:cNvPr id="3" name="Content Placeholder 2"/>
          <p:cNvSpPr>
            <a:spLocks noGrp="1"/>
          </p:cNvSpPr>
          <p:nvPr>
            <p:ph idx="1"/>
          </p:nvPr>
        </p:nvSpPr>
        <p:spPr>
          <a:xfrm>
            <a:off x="838200" y="991673"/>
            <a:ext cx="10515600" cy="5185290"/>
          </a:xfrm>
        </p:spPr>
        <p:txBody>
          <a:bodyPr>
            <a:normAutofit lnSpcReduction="10000"/>
          </a:bodyPr>
          <a:lstStyle/>
          <a:p>
            <a:pPr algn="just">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CS:</a:t>
            </a:r>
            <a:r>
              <a:rPr lang="en-IN" sz="2400" dirty="0" smtClean="0">
                <a:solidFill>
                  <a:srgbClr val="00B050"/>
                </a:solidFill>
                <a:effectLst>
                  <a:outerShdw blurRad="38100" dist="38100" dir="2700000" algn="tl">
                    <a:srgbClr val="000000">
                      <a:alpha val="43137"/>
                    </a:srgbClr>
                  </a:outerShdw>
                </a:effectLst>
              </a:rPr>
              <a:t> </a:t>
            </a:r>
            <a:r>
              <a:rPr lang="en-IN" sz="2400" dirty="0" smtClean="0">
                <a:solidFill>
                  <a:srgbClr val="00B050"/>
                </a:solidFill>
              </a:rPr>
              <a:t>Chip select is Active low input used to active the ADC0804 </a:t>
            </a:r>
            <a:r>
              <a:rPr lang="en-IN" sz="2400" dirty="0" err="1" smtClean="0">
                <a:solidFill>
                  <a:srgbClr val="00B050"/>
                </a:solidFill>
              </a:rPr>
              <a:t>chip.To</a:t>
            </a:r>
            <a:r>
              <a:rPr lang="en-IN" sz="2400" dirty="0" smtClean="0">
                <a:solidFill>
                  <a:srgbClr val="00B050"/>
                </a:solidFill>
              </a:rPr>
              <a:t>             access the ADC, this pin must be low.</a:t>
            </a:r>
          </a:p>
          <a:p>
            <a:pPr algn="just">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WR (start conversion): </a:t>
            </a:r>
          </a:p>
          <a:p>
            <a:pPr algn="just"/>
            <a:r>
              <a:rPr lang="en-IN" sz="2400" dirty="0" smtClean="0">
                <a:solidFill>
                  <a:srgbClr val="00B050"/>
                </a:solidFill>
              </a:rPr>
              <a:t>This is an active low input used to inform the ADC to start the conversion process.</a:t>
            </a:r>
          </a:p>
          <a:p>
            <a:pPr algn="just"/>
            <a:r>
              <a:rPr lang="en-IN" sz="2400" dirty="0" smtClean="0">
                <a:solidFill>
                  <a:srgbClr val="00B050"/>
                </a:solidFill>
              </a:rPr>
              <a:t>If CS=0 when WR makes a low-to-high transition , the ADC0804 starts converting the Analog input value of Vin to an 8-bit digital number.</a:t>
            </a:r>
          </a:p>
          <a:p>
            <a:pPr algn="just"/>
            <a:r>
              <a:rPr lang="en-IN" sz="2400" dirty="0" smtClean="0">
                <a:solidFill>
                  <a:srgbClr val="00B050"/>
                </a:solidFill>
              </a:rPr>
              <a:t>The amount of time it takes to convert varies depending on the CLK IN and CLK R values.</a:t>
            </a:r>
          </a:p>
          <a:p>
            <a:pPr algn="just">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CLK IN and CLK R:</a:t>
            </a:r>
          </a:p>
          <a:p>
            <a:pPr algn="just"/>
            <a:r>
              <a:rPr lang="en-IN" sz="2400" dirty="0" smtClean="0">
                <a:solidFill>
                  <a:srgbClr val="00B050"/>
                </a:solidFill>
              </a:rPr>
              <a:t>CLK IN is an input pin connected to an external clock source when an external clock is used for timing.</a:t>
            </a:r>
          </a:p>
          <a:p>
            <a:pPr algn="just"/>
            <a:r>
              <a:rPr lang="en-IN" sz="2400" dirty="0" smtClean="0">
                <a:solidFill>
                  <a:srgbClr val="00B050"/>
                </a:solidFill>
              </a:rPr>
              <a:t>ADC0804 also has an internal clock generator. To use the internal clock generator(also called self-clocking of the ADC0804), the CLK IN and CLK R pins are connected to a capacitor and a resistor as shown in above figure.</a:t>
            </a:r>
          </a:p>
          <a:p>
            <a:pPr algn="just">
              <a:buFont typeface="Wingdings" panose="05000000000000000000" pitchFamily="2" charset="2"/>
              <a:buChar char="Ø"/>
            </a:pPr>
            <a:endParaRPr lang="en-IN" sz="2400" u="sng" dirty="0" smtClean="0">
              <a:solidFill>
                <a:schemeClr val="accent6">
                  <a:lumMod val="75000"/>
                </a:schemeClr>
              </a:solidFill>
              <a:effectLst>
                <a:outerShdw blurRad="38100" dist="38100" dir="2700000" algn="tl">
                  <a:srgbClr val="000000">
                    <a:alpha val="43137"/>
                  </a:srgbClr>
                </a:outerShdw>
              </a:effectLst>
            </a:endParaRPr>
          </a:p>
          <a:p>
            <a:pPr algn="just">
              <a:buFont typeface="Wingdings" panose="05000000000000000000" pitchFamily="2" charset="2"/>
              <a:buChar char="§"/>
            </a:pPr>
            <a:endParaRPr lang="en-IN" sz="2400" dirty="0" smtClean="0">
              <a:solidFill>
                <a:schemeClr val="accent6">
                  <a:lumMod val="75000"/>
                </a:schemeClr>
              </a:solidFill>
            </a:endParaRPr>
          </a:p>
          <a:p>
            <a:pPr algn="just"/>
            <a:endParaRPr lang="en-IN" sz="2400" dirty="0">
              <a:solidFill>
                <a:schemeClr val="tx1">
                  <a:lumMod val="95000"/>
                  <a:lumOff val="5000"/>
                </a:schemeClr>
              </a:solidFill>
            </a:endParaRPr>
          </a:p>
        </p:txBody>
      </p:sp>
    </p:spTree>
    <p:extLst>
      <p:ext uri="{BB962C8B-B14F-4D97-AF65-F5344CB8AC3E}">
        <p14:creationId xmlns:p14="http://schemas.microsoft.com/office/powerpoint/2010/main" val="38173530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6897"/>
            <a:ext cx="10515600" cy="6581103"/>
          </a:xfrm>
        </p:spPr>
        <p:txBody>
          <a:bodyPr>
            <a:normAutofit lnSpcReduction="10000"/>
          </a:bodyPr>
          <a:lstStyle/>
          <a:p>
            <a:r>
              <a:rPr lang="en-IN" sz="2400" dirty="0" smtClean="0">
                <a:solidFill>
                  <a:srgbClr val="00B050"/>
                </a:solidFill>
              </a:rPr>
              <a:t>In that case the clock frequency is determined by the equation:</a:t>
            </a:r>
          </a:p>
          <a:p>
            <a:pPr marL="0" indent="0" algn="ctr">
              <a:buNone/>
            </a:pPr>
            <a:r>
              <a:rPr lang="en-IN" sz="2400" dirty="0" smtClean="0">
                <a:solidFill>
                  <a:srgbClr val="00B050"/>
                </a:solidFill>
              </a:rPr>
              <a:t>f = 1/(1.11*RC)</a:t>
            </a:r>
          </a:p>
          <a:p>
            <a:r>
              <a:rPr lang="en-IN" sz="2400" dirty="0" smtClean="0">
                <a:solidFill>
                  <a:srgbClr val="00B050"/>
                </a:solidFill>
              </a:rPr>
              <a:t>Typical values are R= 10K ohms and C= 150 pF. So, f= 606 kHz and conversion time is 110 us.</a:t>
            </a:r>
          </a:p>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INTR (end of conversion):</a:t>
            </a:r>
          </a:p>
          <a:p>
            <a:r>
              <a:rPr lang="en-IN" sz="2400" dirty="0" smtClean="0">
                <a:solidFill>
                  <a:srgbClr val="00B050"/>
                </a:solidFill>
              </a:rPr>
              <a:t>This is an output pin and is active low.</a:t>
            </a:r>
          </a:p>
          <a:p>
            <a:pPr algn="just"/>
            <a:r>
              <a:rPr lang="en-IN" sz="2400" dirty="0" smtClean="0">
                <a:solidFill>
                  <a:srgbClr val="00B050"/>
                </a:solidFill>
              </a:rPr>
              <a:t>It is a normally high pin and when the conversion is finished, it goes low to signal the CPU that the converted data is ready to be picked up.</a:t>
            </a:r>
          </a:p>
          <a:p>
            <a:r>
              <a:rPr lang="en-IN" sz="2400" dirty="0" smtClean="0">
                <a:solidFill>
                  <a:srgbClr val="00B050"/>
                </a:solidFill>
              </a:rPr>
              <a:t>After INTR goes low, we makes CS=0 and send a high-to-low pulse to the RD pin to get the data out of the ADC0804 chip.</a:t>
            </a:r>
            <a:endParaRPr lang="en-IN" sz="2400" dirty="0" smtClean="0">
              <a:solidFill>
                <a:srgbClr val="FF0000"/>
              </a:solidFill>
            </a:endParaRPr>
          </a:p>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Steps must be followed for data conversion by the ADC0804 chip:</a:t>
            </a:r>
          </a:p>
          <a:p>
            <a:pPr marL="457200" indent="-457200">
              <a:buFont typeface="+mj-lt"/>
              <a:buAutoNum type="arabicPeriod"/>
            </a:pPr>
            <a:r>
              <a:rPr lang="en-IN" sz="2400" dirty="0" smtClean="0">
                <a:solidFill>
                  <a:srgbClr val="00B050"/>
                </a:solidFill>
              </a:rPr>
              <a:t>Make CS=0 and send a low-to-high pulse to pin WR to start the conversion.</a:t>
            </a:r>
          </a:p>
          <a:p>
            <a:pPr marL="457200" indent="-457200">
              <a:buFont typeface="+mj-lt"/>
              <a:buAutoNum type="arabicPeriod"/>
            </a:pPr>
            <a:r>
              <a:rPr lang="en-IN" sz="2400" dirty="0" smtClean="0">
                <a:solidFill>
                  <a:srgbClr val="00B050"/>
                </a:solidFill>
              </a:rPr>
              <a:t>Keep monitoring the INTR pin. If INTR is low, the conversion is finished and we can go to the next step. If INTR is high , keep polling until it goes low.</a:t>
            </a:r>
          </a:p>
          <a:p>
            <a:pPr marL="457200" indent="-457200">
              <a:buFont typeface="+mj-lt"/>
              <a:buAutoNum type="arabicPeriod"/>
            </a:pPr>
            <a:r>
              <a:rPr lang="en-IN" sz="2400" dirty="0" smtClean="0">
                <a:solidFill>
                  <a:srgbClr val="00B050"/>
                </a:solidFill>
              </a:rPr>
              <a:t>After the INTR has become low, we make CS=0 and send a high-to-low pulse to the RD pin to get the data out of the ADC0804 IC chip. The timing for this process is shown in below figure.</a:t>
            </a:r>
          </a:p>
          <a:p>
            <a:endParaRPr lang="en-IN" sz="2400" dirty="0" smtClean="0">
              <a:solidFill>
                <a:schemeClr val="accent1">
                  <a:lumMod val="75000"/>
                </a:schemeClr>
              </a:solidFill>
            </a:endParaRPr>
          </a:p>
          <a:p>
            <a:endParaRPr lang="en-IN" sz="2400" dirty="0" smtClean="0">
              <a:solidFill>
                <a:schemeClr val="accent1">
                  <a:lumMod val="75000"/>
                </a:schemeClr>
              </a:solidFill>
            </a:endParaRPr>
          </a:p>
        </p:txBody>
      </p:sp>
    </p:spTree>
    <p:extLst>
      <p:ext uri="{BB962C8B-B14F-4D97-AF65-F5344CB8AC3E}">
        <p14:creationId xmlns:p14="http://schemas.microsoft.com/office/powerpoint/2010/main" val="13510258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3839253" y="-2010453"/>
            <a:ext cx="4517790" cy="92341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1724771" y="5215944"/>
            <a:ext cx="8746753" cy="523220"/>
          </a:xfrm>
          <a:prstGeom prst="rect">
            <a:avLst/>
          </a:prstGeom>
          <a:noFill/>
        </p:spPr>
        <p:txBody>
          <a:bodyPr wrap="none" rtlCol="0">
            <a:spAutoFit/>
          </a:bodyPr>
          <a:lstStyle/>
          <a:p>
            <a:r>
              <a:rPr lang="en-IN" sz="2800" b="1" dirty="0" smtClean="0">
                <a:solidFill>
                  <a:srgbClr val="0070C0"/>
                </a:solidFill>
                <a:effectLst>
                  <a:outerShdw blurRad="38100" dist="38100" dir="2700000" algn="tl">
                    <a:srgbClr val="000000">
                      <a:alpha val="43137"/>
                    </a:srgbClr>
                  </a:outerShdw>
                </a:effectLst>
              </a:rPr>
              <a:t>Figure: Timing diagram for the control signals of ADC0804</a:t>
            </a:r>
            <a:endParaRPr lang="en-IN" sz="28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886110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38672"/>
          </a:xfrm>
        </p:spPr>
        <p:txBody>
          <a:bodyPr>
            <a:normAutofit/>
          </a:bodyPr>
          <a:lstStyle/>
          <a:p>
            <a:pPr algn="ctr"/>
            <a:r>
              <a:rPr lang="en-IN" sz="2800" b="1" dirty="0" smtClean="0">
                <a:solidFill>
                  <a:srgbClr val="0070C0"/>
                </a:solidFill>
                <a:latin typeface="+mn-lt"/>
              </a:rPr>
              <a:t>CLOCK SOURCE FOR ADC0804</a:t>
            </a:r>
            <a:endParaRPr lang="en-IN" sz="2800" b="1" dirty="0">
              <a:solidFill>
                <a:srgbClr val="0070C0"/>
              </a:solidFill>
              <a:latin typeface="+mn-lt"/>
            </a:endParaRPr>
          </a:p>
        </p:txBody>
      </p:sp>
      <p:sp>
        <p:nvSpPr>
          <p:cNvPr id="3" name="Content Placeholder 2"/>
          <p:cNvSpPr>
            <a:spLocks noGrp="1"/>
          </p:cNvSpPr>
          <p:nvPr>
            <p:ph idx="1"/>
          </p:nvPr>
        </p:nvSpPr>
        <p:spPr>
          <a:xfrm>
            <a:off x="838200" y="1038672"/>
            <a:ext cx="10515600" cy="5138291"/>
          </a:xfrm>
        </p:spPr>
        <p:txBody>
          <a:bodyPr>
            <a:normAutofit/>
          </a:bodyPr>
          <a:lstStyle/>
          <a:p>
            <a:pPr algn="just"/>
            <a:r>
              <a:rPr lang="en-IN" sz="2400" dirty="0" smtClean="0">
                <a:solidFill>
                  <a:srgbClr val="00B050"/>
                </a:solidFill>
              </a:rPr>
              <a:t>The speed at which an analogy input is converted to the digital output depends, on the speed of the CLK input.</a:t>
            </a:r>
          </a:p>
          <a:p>
            <a:pPr algn="just"/>
            <a:r>
              <a:rPr lang="en-IN" sz="2400" dirty="0" smtClean="0">
                <a:solidFill>
                  <a:srgbClr val="00B050"/>
                </a:solidFill>
              </a:rPr>
              <a:t>According to the ADC0804 datasheets, </a:t>
            </a:r>
            <a:r>
              <a:rPr lang="en-IN" sz="2400" dirty="0">
                <a:solidFill>
                  <a:srgbClr val="00B050"/>
                </a:solidFill>
              </a:rPr>
              <a:t>t</a:t>
            </a:r>
            <a:r>
              <a:rPr lang="en-IN" sz="2400" dirty="0" smtClean="0">
                <a:solidFill>
                  <a:srgbClr val="00B050"/>
                </a:solidFill>
              </a:rPr>
              <a:t>he typical operating frequency is approximately 640 kHz at 5 volts.</a:t>
            </a:r>
          </a:p>
          <a:p>
            <a:pPr algn="just"/>
            <a:r>
              <a:rPr lang="en-IN" sz="2400" dirty="0" smtClean="0">
                <a:solidFill>
                  <a:srgbClr val="00B050"/>
                </a:solidFill>
              </a:rPr>
              <a:t>We can give the clock pulses to the ADC0804 by two methods.</a:t>
            </a:r>
          </a:p>
          <a:p>
            <a:pPr marL="457200" indent="-457200" algn="just">
              <a:buFont typeface="+mj-lt"/>
              <a:buAutoNum type="arabicPeriod"/>
            </a:pPr>
            <a:r>
              <a:rPr lang="en-IN" sz="2400" dirty="0" smtClean="0">
                <a:solidFill>
                  <a:srgbClr val="00B050"/>
                </a:solidFill>
              </a:rPr>
              <a:t>By the self-clocking method</a:t>
            </a:r>
          </a:p>
          <a:p>
            <a:pPr marL="457200" indent="-457200" algn="just">
              <a:buFont typeface="+mj-lt"/>
              <a:buAutoNum type="arabicPeriod"/>
            </a:pPr>
            <a:r>
              <a:rPr lang="en-IN" sz="2400" dirty="0" smtClean="0">
                <a:solidFill>
                  <a:srgbClr val="00B050"/>
                </a:solidFill>
              </a:rPr>
              <a:t>By the external clock signal</a:t>
            </a:r>
          </a:p>
          <a:p>
            <a:pPr algn="just">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By the external clock signal: </a:t>
            </a:r>
          </a:p>
          <a:p>
            <a:pPr algn="just"/>
            <a:r>
              <a:rPr lang="en-IN" sz="2400" dirty="0" smtClean="0">
                <a:solidFill>
                  <a:srgbClr val="00B050"/>
                </a:solidFill>
              </a:rPr>
              <a:t>In this the clock in for the ADC is coming from the crystal of the microcontroller.</a:t>
            </a:r>
          </a:p>
          <a:p>
            <a:pPr algn="just"/>
            <a:r>
              <a:rPr lang="en-IN" sz="2400" dirty="0" smtClean="0">
                <a:solidFill>
                  <a:srgbClr val="00B050"/>
                </a:solidFill>
              </a:rPr>
              <a:t>Since this frequency is too high , we use D flip-flops to divide the frequency.</a:t>
            </a:r>
          </a:p>
          <a:p>
            <a:pPr algn="just"/>
            <a:r>
              <a:rPr lang="en-IN" sz="2400" dirty="0" smtClean="0">
                <a:solidFill>
                  <a:srgbClr val="00B050"/>
                </a:solidFill>
              </a:rPr>
              <a:t>A single D flip-flop divides the frequency by 2 if we connect its Q* to the D input.</a:t>
            </a:r>
          </a:p>
          <a:p>
            <a:pPr algn="just">
              <a:buFont typeface="Wingdings" panose="05000000000000000000" pitchFamily="2" charset="2"/>
              <a:buChar char="Ø"/>
            </a:pPr>
            <a:endParaRPr lang="en-IN" sz="2400" dirty="0" smtClean="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99290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4078578" y="-1631590"/>
            <a:ext cx="4322473" cy="87962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2319794" y="5666704"/>
            <a:ext cx="7655109" cy="523220"/>
          </a:xfrm>
          <a:prstGeom prst="rect">
            <a:avLst/>
          </a:prstGeom>
          <a:noFill/>
        </p:spPr>
        <p:txBody>
          <a:bodyPr wrap="none" rtlCol="0">
            <a:spAutoFit/>
          </a:bodyPr>
          <a:lstStyle/>
          <a:p>
            <a:pPr algn="ctr"/>
            <a:r>
              <a:rPr lang="en-IN" sz="2800" b="1" dirty="0" smtClean="0">
                <a:solidFill>
                  <a:srgbClr val="0070C0"/>
                </a:solidFill>
              </a:rPr>
              <a:t>Figure : Connection to ADC0804 with Self-Clocking</a:t>
            </a:r>
            <a:endParaRPr lang="en-IN" sz="2800" b="1" dirty="0">
              <a:solidFill>
                <a:srgbClr val="0070C0"/>
              </a:solidFill>
            </a:endParaRPr>
          </a:p>
        </p:txBody>
      </p:sp>
    </p:spTree>
    <p:extLst>
      <p:ext uri="{BB962C8B-B14F-4D97-AF65-F5344CB8AC3E}">
        <p14:creationId xmlns:p14="http://schemas.microsoft.com/office/powerpoint/2010/main" val="23818169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3937715" y="-1220275"/>
            <a:ext cx="4449651" cy="83326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extBox 1"/>
          <p:cNvSpPr txBox="1"/>
          <p:nvPr/>
        </p:nvSpPr>
        <p:spPr>
          <a:xfrm>
            <a:off x="1485202" y="5962918"/>
            <a:ext cx="9354677" cy="461665"/>
          </a:xfrm>
          <a:prstGeom prst="rect">
            <a:avLst/>
          </a:prstGeom>
          <a:noFill/>
        </p:spPr>
        <p:txBody>
          <a:bodyPr wrap="none" rtlCol="0">
            <a:spAutoFit/>
          </a:bodyPr>
          <a:lstStyle/>
          <a:p>
            <a:pPr algn="ctr"/>
            <a:r>
              <a:rPr lang="en-IN" sz="2400" b="1" dirty="0" smtClean="0">
                <a:solidFill>
                  <a:schemeClr val="accent1">
                    <a:lumMod val="75000"/>
                  </a:schemeClr>
                </a:solidFill>
              </a:rPr>
              <a:t>Figure : 8051 Connection to ADC0804 with Clock from XTAL2 of the 8051</a:t>
            </a:r>
            <a:endParaRPr lang="en-IN" sz="2400" b="1" dirty="0">
              <a:solidFill>
                <a:schemeClr val="accent1">
                  <a:lumMod val="75000"/>
                </a:schemeClr>
              </a:solidFill>
            </a:endParaRPr>
          </a:p>
        </p:txBody>
      </p:sp>
    </p:spTree>
    <p:extLst>
      <p:ext uri="{BB962C8B-B14F-4D97-AF65-F5344CB8AC3E}">
        <p14:creationId xmlns:p14="http://schemas.microsoft.com/office/powerpoint/2010/main" val="32026815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10515600" cy="1103067"/>
          </a:xfrm>
        </p:spPr>
        <p:txBody>
          <a:bodyPr/>
          <a:lstStyle/>
          <a:p>
            <a:pPr algn="ctr"/>
            <a:r>
              <a:rPr lang="en-IN" sz="2800" b="1" dirty="0" smtClean="0">
                <a:solidFill>
                  <a:srgbClr val="0070C0"/>
                </a:solidFill>
                <a:latin typeface="+mn-lt"/>
              </a:rPr>
              <a:t>Programming of ADC0804 in C</a:t>
            </a:r>
            <a:endParaRPr lang="en-IN" sz="2800" b="1" dirty="0">
              <a:solidFill>
                <a:srgbClr val="0070C0"/>
              </a:solidFill>
              <a:latin typeface="+mn-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0445" y="839273"/>
            <a:ext cx="7431110" cy="58663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234350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254271" y="2034263"/>
            <a:ext cx="4711219" cy="3208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5" name="Table 4"/>
          <p:cNvGraphicFramePr>
            <a:graphicFrameLocks noGrp="1"/>
          </p:cNvGraphicFramePr>
          <p:nvPr>
            <p:extLst>
              <p:ext uri="{D42A27DB-BD31-4B8C-83A1-F6EECF244321}">
                <p14:modId xmlns:p14="http://schemas.microsoft.com/office/powerpoint/2010/main" val="2159987115"/>
              </p:ext>
            </p:extLst>
          </p:nvPr>
        </p:nvGraphicFramePr>
        <p:xfrm>
          <a:off x="6490951" y="798488"/>
          <a:ext cx="5112913" cy="6059511"/>
        </p:xfrm>
        <a:graphic>
          <a:graphicData uri="http://schemas.openxmlformats.org/drawingml/2006/table">
            <a:tbl>
              <a:tblPr firstRow="1" firstCol="1" bandRow="1">
                <a:tableStyleId>{93296810-A885-4BE3-A3E7-6D5BEEA58F35}</a:tableStyleId>
              </a:tblPr>
              <a:tblGrid>
                <a:gridCol w="1006568">
                  <a:extLst>
                    <a:ext uri="{9D8B030D-6E8A-4147-A177-3AD203B41FA5}">
                      <a16:colId xmlns:a16="http://schemas.microsoft.com/office/drawing/2014/main" xmlns="" val="20000"/>
                    </a:ext>
                  </a:extLst>
                </a:gridCol>
                <a:gridCol w="1028980">
                  <a:extLst>
                    <a:ext uri="{9D8B030D-6E8A-4147-A177-3AD203B41FA5}">
                      <a16:colId xmlns:a16="http://schemas.microsoft.com/office/drawing/2014/main" xmlns="" val="20001"/>
                    </a:ext>
                  </a:extLst>
                </a:gridCol>
                <a:gridCol w="3077365">
                  <a:extLst>
                    <a:ext uri="{9D8B030D-6E8A-4147-A177-3AD203B41FA5}">
                      <a16:colId xmlns:a16="http://schemas.microsoft.com/office/drawing/2014/main" xmlns="" val="20002"/>
                    </a:ext>
                  </a:extLst>
                </a:gridCol>
              </a:tblGrid>
              <a:tr h="487456">
                <a:tc>
                  <a:txBody>
                    <a:bodyPr/>
                    <a:lstStyle/>
                    <a:p>
                      <a:pPr algn="ctr">
                        <a:lnSpc>
                          <a:spcPts val="1940"/>
                        </a:lnSpc>
                        <a:spcAft>
                          <a:spcPts val="0"/>
                        </a:spcAft>
                      </a:pPr>
                      <a:r>
                        <a:rPr lang="en-IN" sz="1100" dirty="0">
                          <a:effectLst/>
                        </a:rPr>
                        <a:t>Pin number</a:t>
                      </a:r>
                      <a:endParaRPr lang="en-IN" sz="1100" dirty="0">
                        <a:solidFill>
                          <a:schemeClr val="accent1">
                            <a:lumMod val="20000"/>
                            <a:lumOff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1100">
                          <a:effectLst/>
                        </a:rPr>
                        <a:t>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1100" dirty="0">
                          <a:effectLst/>
                        </a:rPr>
                        <a:t>Description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0"/>
                  </a:ext>
                </a:extLst>
              </a:tr>
              <a:tr h="362465">
                <a:tc>
                  <a:txBody>
                    <a:bodyPr/>
                    <a:lstStyle/>
                    <a:p>
                      <a:pPr algn="ctr">
                        <a:lnSpc>
                          <a:spcPts val="1940"/>
                        </a:lnSpc>
                        <a:spcAft>
                          <a:spcPts val="0"/>
                        </a:spcAft>
                      </a:pPr>
                      <a:r>
                        <a:rPr lang="en-IN" sz="800" dirty="0">
                          <a:effectLst/>
                        </a:rPr>
                        <a:t>1</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err="1">
                          <a:effectLst/>
                        </a:rPr>
                        <a:t>Vss</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Ground</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1"/>
                  </a:ext>
                </a:extLst>
              </a:tr>
              <a:tr h="300097">
                <a:tc>
                  <a:txBody>
                    <a:bodyPr/>
                    <a:lstStyle/>
                    <a:p>
                      <a:pPr algn="ctr">
                        <a:lnSpc>
                          <a:spcPts val="1940"/>
                        </a:lnSpc>
                        <a:spcAft>
                          <a:spcPts val="0"/>
                        </a:spcAft>
                      </a:pPr>
                      <a:r>
                        <a:rPr lang="en-IN" sz="800" dirty="0">
                          <a:effectLst/>
                        </a:rPr>
                        <a:t>2</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Vdd</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+5V</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2"/>
                  </a:ext>
                </a:extLst>
              </a:tr>
              <a:tr h="536142">
                <a:tc>
                  <a:txBody>
                    <a:bodyPr/>
                    <a:lstStyle/>
                    <a:p>
                      <a:pPr algn="ctr">
                        <a:lnSpc>
                          <a:spcPts val="1940"/>
                        </a:lnSpc>
                        <a:spcAft>
                          <a:spcPts val="0"/>
                        </a:spcAft>
                      </a:pPr>
                      <a:r>
                        <a:rPr lang="en-IN" sz="800" dirty="0">
                          <a:effectLst/>
                        </a:rPr>
                        <a:t>3</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Vee</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Contrast Adjustment ‐2V to ‐5V</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3"/>
                  </a:ext>
                </a:extLst>
              </a:tr>
              <a:tr h="300097">
                <a:tc>
                  <a:txBody>
                    <a:bodyPr/>
                    <a:lstStyle/>
                    <a:p>
                      <a:pPr algn="ctr">
                        <a:lnSpc>
                          <a:spcPts val="1940"/>
                        </a:lnSpc>
                        <a:spcAft>
                          <a:spcPts val="0"/>
                        </a:spcAft>
                      </a:pPr>
                      <a:r>
                        <a:rPr lang="en-IN" sz="800" dirty="0">
                          <a:effectLst/>
                        </a:rPr>
                        <a:t>4</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RS</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Register Select</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4"/>
                  </a:ext>
                </a:extLst>
              </a:tr>
              <a:tr h="300097">
                <a:tc>
                  <a:txBody>
                    <a:bodyPr/>
                    <a:lstStyle/>
                    <a:p>
                      <a:pPr algn="ctr">
                        <a:lnSpc>
                          <a:spcPts val="1940"/>
                        </a:lnSpc>
                        <a:spcAft>
                          <a:spcPts val="0"/>
                        </a:spcAft>
                      </a:pPr>
                      <a:r>
                        <a:rPr lang="en-IN" sz="800" dirty="0">
                          <a:effectLst/>
                        </a:rPr>
                        <a:t>5</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RW</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1 ‐Read , 0‐Write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5"/>
                  </a:ext>
                </a:extLst>
              </a:tr>
              <a:tr h="300097">
                <a:tc>
                  <a:txBody>
                    <a:bodyPr/>
                    <a:lstStyle/>
                    <a:p>
                      <a:pPr algn="ctr">
                        <a:lnSpc>
                          <a:spcPts val="1940"/>
                        </a:lnSpc>
                        <a:spcAft>
                          <a:spcPts val="0"/>
                        </a:spcAft>
                      </a:pPr>
                      <a:r>
                        <a:rPr lang="en-IN" sz="800">
                          <a:effectLst/>
                        </a:rPr>
                        <a:t>6</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E</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Enable Strobe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6"/>
                  </a:ext>
                </a:extLst>
              </a:tr>
              <a:tr h="300097">
                <a:tc>
                  <a:txBody>
                    <a:bodyPr/>
                    <a:lstStyle/>
                    <a:p>
                      <a:pPr algn="ctr">
                        <a:lnSpc>
                          <a:spcPts val="1940"/>
                        </a:lnSpc>
                        <a:spcAft>
                          <a:spcPts val="0"/>
                        </a:spcAft>
                      </a:pPr>
                      <a:r>
                        <a:rPr lang="en-IN" sz="800" dirty="0">
                          <a:effectLst/>
                        </a:rPr>
                        <a:t>7</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D0</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Data Line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7"/>
                  </a:ext>
                </a:extLst>
              </a:tr>
              <a:tr h="300097">
                <a:tc>
                  <a:txBody>
                    <a:bodyPr/>
                    <a:lstStyle/>
                    <a:p>
                      <a:pPr algn="ctr">
                        <a:lnSpc>
                          <a:spcPts val="1940"/>
                        </a:lnSpc>
                        <a:spcAft>
                          <a:spcPts val="0"/>
                        </a:spcAft>
                      </a:pPr>
                      <a:r>
                        <a:rPr lang="en-IN" sz="800">
                          <a:effectLst/>
                        </a:rPr>
                        <a:t>8</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D1</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Data Line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8"/>
                  </a:ext>
                </a:extLst>
              </a:tr>
              <a:tr h="300097">
                <a:tc>
                  <a:txBody>
                    <a:bodyPr/>
                    <a:lstStyle/>
                    <a:p>
                      <a:pPr algn="ctr">
                        <a:lnSpc>
                          <a:spcPts val="1940"/>
                        </a:lnSpc>
                        <a:spcAft>
                          <a:spcPts val="0"/>
                        </a:spcAft>
                      </a:pPr>
                      <a:r>
                        <a:rPr lang="en-IN" sz="800">
                          <a:effectLst/>
                        </a:rPr>
                        <a:t>9</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D2</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Data Line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09"/>
                  </a:ext>
                </a:extLst>
              </a:tr>
              <a:tr h="300097">
                <a:tc>
                  <a:txBody>
                    <a:bodyPr/>
                    <a:lstStyle/>
                    <a:p>
                      <a:pPr algn="ctr">
                        <a:lnSpc>
                          <a:spcPts val="1940"/>
                        </a:lnSpc>
                        <a:spcAft>
                          <a:spcPts val="0"/>
                        </a:spcAft>
                      </a:pPr>
                      <a:r>
                        <a:rPr lang="en-IN" sz="800">
                          <a:effectLst/>
                        </a:rPr>
                        <a:t>10</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D3</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Data Line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0"/>
                  </a:ext>
                </a:extLst>
              </a:tr>
              <a:tr h="300097">
                <a:tc>
                  <a:txBody>
                    <a:bodyPr/>
                    <a:lstStyle/>
                    <a:p>
                      <a:pPr algn="ctr">
                        <a:lnSpc>
                          <a:spcPts val="1940"/>
                        </a:lnSpc>
                        <a:spcAft>
                          <a:spcPts val="0"/>
                        </a:spcAft>
                      </a:pPr>
                      <a:r>
                        <a:rPr lang="en-IN" sz="800">
                          <a:effectLst/>
                        </a:rPr>
                        <a:t>11</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D4</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Data Line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1"/>
                  </a:ext>
                </a:extLst>
              </a:tr>
              <a:tr h="300097">
                <a:tc>
                  <a:txBody>
                    <a:bodyPr/>
                    <a:lstStyle/>
                    <a:p>
                      <a:pPr algn="ctr">
                        <a:lnSpc>
                          <a:spcPts val="1940"/>
                        </a:lnSpc>
                        <a:spcAft>
                          <a:spcPts val="0"/>
                        </a:spcAft>
                      </a:pPr>
                      <a:r>
                        <a:rPr lang="en-IN" sz="800">
                          <a:effectLst/>
                        </a:rPr>
                        <a:t>12</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D5</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Data Line</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2"/>
                  </a:ext>
                </a:extLst>
              </a:tr>
              <a:tr h="300097">
                <a:tc>
                  <a:txBody>
                    <a:bodyPr/>
                    <a:lstStyle/>
                    <a:p>
                      <a:pPr algn="ctr">
                        <a:lnSpc>
                          <a:spcPts val="1940"/>
                        </a:lnSpc>
                        <a:spcAft>
                          <a:spcPts val="0"/>
                        </a:spcAft>
                      </a:pPr>
                      <a:r>
                        <a:rPr lang="en-IN" sz="800">
                          <a:effectLst/>
                        </a:rPr>
                        <a:t>13</a:t>
                      </a:r>
                      <a:endParaRPr lang="en-IN" sz="7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D6</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Data Line</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3"/>
                  </a:ext>
                </a:extLst>
              </a:tr>
              <a:tr h="300097">
                <a:tc>
                  <a:txBody>
                    <a:bodyPr/>
                    <a:lstStyle/>
                    <a:p>
                      <a:pPr algn="ctr">
                        <a:lnSpc>
                          <a:spcPts val="1940"/>
                        </a:lnSpc>
                        <a:spcAft>
                          <a:spcPts val="0"/>
                        </a:spcAft>
                      </a:pPr>
                      <a:r>
                        <a:rPr lang="en-IN" sz="800" dirty="0">
                          <a:effectLst/>
                        </a:rPr>
                        <a:t>14</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D7</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Data Line</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4"/>
                  </a:ext>
                </a:extLst>
              </a:tr>
              <a:tr h="536142">
                <a:tc>
                  <a:txBody>
                    <a:bodyPr/>
                    <a:lstStyle/>
                    <a:p>
                      <a:pPr algn="ctr">
                        <a:lnSpc>
                          <a:spcPts val="1940"/>
                        </a:lnSpc>
                        <a:spcAft>
                          <a:spcPts val="0"/>
                        </a:spcAft>
                      </a:pPr>
                      <a:r>
                        <a:rPr lang="en-IN" sz="800" dirty="0">
                          <a:effectLst/>
                        </a:rPr>
                        <a:t>15</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a:effectLst/>
                        </a:rPr>
                        <a:t>LED+</a:t>
                      </a:r>
                      <a:endParaRPr lang="en-IN"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Backlit LED +V </a:t>
                      </a:r>
                      <a:r>
                        <a:rPr lang="en-IN" sz="900" dirty="0" err="1">
                          <a:effectLst/>
                        </a:rPr>
                        <a:t>Vdd</a:t>
                      </a:r>
                      <a:r>
                        <a:rPr lang="en-IN" sz="900" dirty="0">
                          <a:effectLst/>
                        </a:rPr>
                        <a:t> (Optional signal)</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5"/>
                  </a:ext>
                </a:extLst>
              </a:tr>
              <a:tr h="536142">
                <a:tc>
                  <a:txBody>
                    <a:bodyPr/>
                    <a:lstStyle/>
                    <a:p>
                      <a:pPr algn="ctr">
                        <a:lnSpc>
                          <a:spcPts val="1940"/>
                        </a:lnSpc>
                        <a:spcAft>
                          <a:spcPts val="0"/>
                        </a:spcAft>
                      </a:pPr>
                      <a:r>
                        <a:rPr lang="en-IN" sz="800" dirty="0">
                          <a:effectLst/>
                        </a:rPr>
                        <a:t>16</a:t>
                      </a:r>
                      <a:endParaRPr lang="en-IN" sz="7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LED-</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ts val="1940"/>
                        </a:lnSpc>
                        <a:spcAft>
                          <a:spcPts val="0"/>
                        </a:spcAft>
                      </a:pPr>
                      <a:r>
                        <a:rPr lang="en-IN" sz="900" dirty="0">
                          <a:effectLst/>
                        </a:rPr>
                        <a:t>Backlit LED +V </a:t>
                      </a:r>
                      <a:r>
                        <a:rPr lang="en-IN" sz="900" dirty="0" err="1">
                          <a:effectLst/>
                        </a:rPr>
                        <a:t>Vdd</a:t>
                      </a:r>
                      <a:r>
                        <a:rPr lang="en-IN" sz="900" dirty="0">
                          <a:effectLst/>
                        </a:rPr>
                        <a:t> (</a:t>
                      </a:r>
                      <a:r>
                        <a:rPr lang="en-IN" sz="900" dirty="0" err="1">
                          <a:effectLst/>
                        </a:rPr>
                        <a:t>Optionalsignal</a:t>
                      </a:r>
                      <a:r>
                        <a:rPr lang="en-IN" sz="900" dirty="0">
                          <a:effectLst/>
                        </a:rPr>
                        <a:t>)</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10016"/>
                  </a:ext>
                </a:extLst>
              </a:tr>
            </a:tbl>
          </a:graphicData>
        </a:graphic>
      </p:graphicFrame>
      <p:sp>
        <p:nvSpPr>
          <p:cNvPr id="6" name="TextBox 5"/>
          <p:cNvSpPr txBox="1"/>
          <p:nvPr/>
        </p:nvSpPr>
        <p:spPr>
          <a:xfrm>
            <a:off x="398206" y="0"/>
            <a:ext cx="11488994" cy="523220"/>
          </a:xfrm>
          <a:prstGeom prst="rect">
            <a:avLst/>
          </a:prstGeom>
          <a:noFill/>
        </p:spPr>
        <p:txBody>
          <a:bodyPr wrap="square" rtlCol="0">
            <a:spAutoFit/>
          </a:bodyPr>
          <a:lstStyle/>
          <a:p>
            <a:pPr algn="ctr"/>
            <a:r>
              <a:rPr lang="en-IN" sz="2800" b="1" dirty="0" smtClean="0">
                <a:solidFill>
                  <a:srgbClr val="0070C0"/>
                </a:solidFill>
              </a:rPr>
              <a:t>16*2 </a:t>
            </a:r>
            <a:r>
              <a:rPr lang="en-IN" sz="2800" b="1" dirty="0">
                <a:solidFill>
                  <a:srgbClr val="0070C0"/>
                </a:solidFill>
              </a:rPr>
              <a:t>LCD DISPLAY</a:t>
            </a:r>
          </a:p>
        </p:txBody>
      </p:sp>
    </p:spTree>
    <p:extLst>
      <p:ext uri="{BB962C8B-B14F-4D97-AF65-F5344CB8AC3E}">
        <p14:creationId xmlns:p14="http://schemas.microsoft.com/office/powerpoint/2010/main" val="29410087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8"/>
            <a:ext cx="10515600" cy="935641"/>
          </a:xfrm>
        </p:spPr>
        <p:txBody>
          <a:bodyPr>
            <a:normAutofit/>
          </a:bodyPr>
          <a:lstStyle/>
          <a:p>
            <a:pPr algn="ctr"/>
            <a:r>
              <a:rPr lang="en-IN" sz="2800" b="1" dirty="0" smtClean="0">
                <a:solidFill>
                  <a:schemeClr val="accent1">
                    <a:lumMod val="75000"/>
                  </a:schemeClr>
                </a:solidFill>
                <a:latin typeface="+mn-lt"/>
              </a:rPr>
              <a:t>LCD INTERFACING</a:t>
            </a:r>
            <a:endParaRPr lang="en-IN" sz="2800" b="1" dirty="0">
              <a:solidFill>
                <a:schemeClr val="accent1">
                  <a:lumMod val="75000"/>
                </a:schemeClr>
              </a:solidFill>
              <a:latin typeface="+mn-lt"/>
            </a:endParaRPr>
          </a:p>
        </p:txBody>
      </p:sp>
      <p:sp>
        <p:nvSpPr>
          <p:cNvPr id="3" name="Content Placeholder 2"/>
          <p:cNvSpPr>
            <a:spLocks noGrp="1"/>
          </p:cNvSpPr>
          <p:nvPr>
            <p:ph idx="1"/>
          </p:nvPr>
        </p:nvSpPr>
        <p:spPr>
          <a:xfrm>
            <a:off x="838200" y="1030309"/>
            <a:ext cx="10515600" cy="5146654"/>
          </a:xfrm>
        </p:spPr>
        <p:txBody>
          <a:bodyPr>
            <a:normAutofit/>
          </a:bodyPr>
          <a:lstStyle/>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RS, register select :</a:t>
            </a:r>
          </a:p>
          <a:p>
            <a:r>
              <a:rPr lang="en-IN" sz="2400" dirty="0" smtClean="0">
                <a:solidFill>
                  <a:schemeClr val="accent6">
                    <a:lumMod val="75000"/>
                  </a:schemeClr>
                </a:solidFill>
              </a:rPr>
              <a:t>There are two registers inside the LCD . The RS pin is used for their selection.</a:t>
            </a:r>
          </a:p>
          <a:p>
            <a:r>
              <a:rPr lang="en-IN" sz="2400" dirty="0" smtClean="0">
                <a:solidFill>
                  <a:schemeClr val="accent6">
                    <a:lumMod val="75000"/>
                  </a:schemeClr>
                </a:solidFill>
              </a:rPr>
              <a:t>RS = 0 to select command register</a:t>
            </a:r>
          </a:p>
          <a:p>
            <a:r>
              <a:rPr lang="en-IN" sz="2400" dirty="0" smtClean="0">
                <a:solidFill>
                  <a:schemeClr val="accent6">
                    <a:lumMod val="75000"/>
                  </a:schemeClr>
                </a:solidFill>
              </a:rPr>
              <a:t>RS = 1 to select data register</a:t>
            </a:r>
          </a:p>
          <a:p>
            <a:pPr marL="0" indent="0">
              <a:buNone/>
            </a:pPr>
            <a:endParaRPr lang="en-IN" sz="2400" dirty="0" smtClean="0">
              <a:solidFill>
                <a:srgbClr val="FF0000"/>
              </a:solidFill>
              <a:effectLst>
                <a:outerShdw blurRad="38100" dist="38100" dir="2700000" algn="tl">
                  <a:srgbClr val="000000">
                    <a:alpha val="43137"/>
                  </a:srgbClr>
                </a:outerShdw>
              </a:effectLst>
            </a:endParaRPr>
          </a:p>
          <a:p>
            <a:endParaRPr lang="en-IN" sz="2400" dirty="0">
              <a:solidFill>
                <a:schemeClr val="accent6">
                  <a:lumMod val="75000"/>
                </a:schemeClr>
              </a:solidFill>
              <a:effectLst>
                <a:outerShdw blurRad="38100" dist="38100" dir="2700000" algn="tl">
                  <a:srgbClr val="000000">
                    <a:alpha val="43137"/>
                  </a:srgbClr>
                </a:outerShdw>
              </a:effectLst>
            </a:endParaRPr>
          </a:p>
        </p:txBody>
      </p:sp>
      <p:pic>
        <p:nvPicPr>
          <p:cNvPr id="4" name="Content Placeholder 3"/>
          <p:cNvPicPr/>
          <p:nvPr/>
        </p:nvPicPr>
        <p:blipFill>
          <a:blip r:embed="rId2">
            <a:extLst>
              <a:ext uri="{28A0092B-C50C-407E-A947-70E740481C1C}">
                <a14:useLocalDpi xmlns:a14="http://schemas.microsoft.com/office/drawing/2010/main" val="0"/>
              </a:ext>
            </a:extLst>
          </a:blip>
          <a:stretch>
            <a:fillRect/>
          </a:stretch>
        </p:blipFill>
        <p:spPr>
          <a:xfrm>
            <a:off x="1945783" y="3168205"/>
            <a:ext cx="7713372" cy="3304974"/>
          </a:xfrm>
          <a:prstGeom prst="rect">
            <a:avLst/>
          </a:prstGeom>
        </p:spPr>
      </p:pic>
    </p:spTree>
    <p:extLst>
      <p:ext uri="{BB962C8B-B14F-4D97-AF65-F5344CB8AC3E}">
        <p14:creationId xmlns:p14="http://schemas.microsoft.com/office/powerpoint/2010/main" val="17550033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6065949"/>
          </a:xfrm>
        </p:spPr>
        <p:txBody>
          <a:bodyPr>
            <a:normAutofit lnSpcReduction="10000"/>
          </a:bodyPr>
          <a:lstStyle/>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R/W, read/write :</a:t>
            </a:r>
          </a:p>
          <a:p>
            <a:r>
              <a:rPr lang="en-IN" sz="2400" dirty="0" smtClean="0">
                <a:solidFill>
                  <a:srgbClr val="00B050"/>
                </a:solidFill>
              </a:rPr>
              <a:t>R/W input allows the user to write information to the LCD or read information from it.</a:t>
            </a:r>
          </a:p>
          <a:p>
            <a:r>
              <a:rPr lang="en-IN" sz="2400" dirty="0" smtClean="0">
                <a:solidFill>
                  <a:srgbClr val="00B050"/>
                </a:solidFill>
              </a:rPr>
              <a:t>R/W = 1 to read the information from LCD</a:t>
            </a:r>
          </a:p>
          <a:p>
            <a:r>
              <a:rPr lang="en-IN" sz="2400" dirty="0" smtClean="0">
                <a:solidFill>
                  <a:srgbClr val="00B050"/>
                </a:solidFill>
              </a:rPr>
              <a:t>R/W = 0 to write the information to the LCD. This can be data or the command. RS is selected according to it.</a:t>
            </a:r>
          </a:p>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E, enable :</a:t>
            </a:r>
          </a:p>
          <a:p>
            <a:r>
              <a:rPr lang="en-IN" sz="2400" dirty="0" smtClean="0">
                <a:solidFill>
                  <a:srgbClr val="00B050"/>
                </a:solidFill>
              </a:rPr>
              <a:t>The enable pin is used by the LCD to latch information presented to its data pins.</a:t>
            </a:r>
          </a:p>
          <a:p>
            <a:r>
              <a:rPr lang="en-IN" sz="2400" dirty="0" smtClean="0">
                <a:solidFill>
                  <a:srgbClr val="00B050"/>
                </a:solidFill>
              </a:rPr>
              <a:t>High to low pulse for Write</a:t>
            </a:r>
          </a:p>
          <a:p>
            <a:r>
              <a:rPr lang="en-IN" sz="2400" dirty="0" smtClean="0">
                <a:solidFill>
                  <a:srgbClr val="00B050"/>
                </a:solidFill>
              </a:rPr>
              <a:t>Low to high pulse for Read.</a:t>
            </a:r>
          </a:p>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D0 - D7 :</a:t>
            </a:r>
          </a:p>
          <a:p>
            <a:r>
              <a:rPr lang="en-IN" sz="2400" dirty="0" smtClean="0">
                <a:solidFill>
                  <a:srgbClr val="00B050"/>
                </a:solidFill>
              </a:rPr>
              <a:t>The 8-bit data pins, are used to send information to the LCD or the contents or the LCD’s internal registers.</a:t>
            </a:r>
          </a:p>
          <a:p>
            <a:r>
              <a:rPr lang="en-IN" sz="2400" dirty="0" smtClean="0">
                <a:solidFill>
                  <a:srgbClr val="00B050"/>
                </a:solidFill>
              </a:rPr>
              <a:t>To display letters and numbers we send ASCII codes for the letters A-Z , a-z and 0-9 to these pins while making </a:t>
            </a:r>
            <a:r>
              <a:rPr lang="en-IN" sz="2400" dirty="0" err="1" smtClean="0">
                <a:solidFill>
                  <a:srgbClr val="00B050"/>
                </a:solidFill>
              </a:rPr>
              <a:t>making</a:t>
            </a:r>
            <a:r>
              <a:rPr lang="en-IN" sz="2400" dirty="0" smtClean="0">
                <a:solidFill>
                  <a:srgbClr val="00B050"/>
                </a:solidFill>
              </a:rPr>
              <a:t> RS = 1.</a:t>
            </a:r>
          </a:p>
          <a:p>
            <a:endParaRPr lang="en-IN" sz="2400" dirty="0">
              <a:solidFill>
                <a:schemeClr val="accent1">
                  <a:lumMod val="75000"/>
                </a:schemeClr>
              </a:solidFill>
            </a:endParaRPr>
          </a:p>
        </p:txBody>
      </p:sp>
    </p:spTree>
    <p:extLst>
      <p:ext uri="{BB962C8B-B14F-4D97-AF65-F5344CB8AC3E}">
        <p14:creationId xmlns:p14="http://schemas.microsoft.com/office/powerpoint/2010/main" val="27871926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6518"/>
            <a:ext cx="10515600" cy="5700445"/>
          </a:xfrm>
        </p:spPr>
        <p:txBody>
          <a:bodyPr>
            <a:normAutofit/>
          </a:bodyPr>
          <a:lstStyle/>
          <a:p>
            <a:pPr>
              <a:buFont typeface="Wingdings" panose="05000000000000000000" pitchFamily="2" charset="2"/>
              <a:buChar char="Ø"/>
            </a:pPr>
            <a:r>
              <a:rPr lang="en-IN" sz="2400" dirty="0" smtClean="0">
                <a:solidFill>
                  <a:srgbClr val="FF0000"/>
                </a:solidFill>
                <a:effectLst>
                  <a:outerShdw blurRad="38100" dist="38100" dir="2700000" algn="tl">
                    <a:srgbClr val="000000">
                      <a:alpha val="43137"/>
                    </a:srgbClr>
                  </a:outerShdw>
                </a:effectLst>
              </a:rPr>
              <a:t>Busy flag (D7 bit) :</a:t>
            </a:r>
          </a:p>
          <a:p>
            <a:pPr lvl="0"/>
            <a:r>
              <a:rPr lang="en-US" sz="2400" dirty="0">
                <a:solidFill>
                  <a:srgbClr val="00B050"/>
                </a:solidFill>
              </a:rPr>
              <a:t>Here RS=0 is used to check the busy flag bit to see if the LCD is ready to receive information or not.</a:t>
            </a:r>
            <a:endParaRPr lang="en-IN" sz="2400" dirty="0">
              <a:solidFill>
                <a:srgbClr val="00B050"/>
              </a:solidFill>
            </a:endParaRPr>
          </a:p>
          <a:p>
            <a:pPr lvl="0"/>
            <a:r>
              <a:rPr lang="en-US" sz="2400" dirty="0">
                <a:solidFill>
                  <a:srgbClr val="00B050"/>
                </a:solidFill>
              </a:rPr>
              <a:t>The busy flag is D7 bit.</a:t>
            </a:r>
            <a:endParaRPr lang="en-IN" sz="2400" dirty="0">
              <a:solidFill>
                <a:srgbClr val="00B050"/>
              </a:solidFill>
            </a:endParaRPr>
          </a:p>
          <a:p>
            <a:pPr lvl="0"/>
            <a:r>
              <a:rPr lang="en-US" sz="2400" dirty="0">
                <a:solidFill>
                  <a:srgbClr val="00B050"/>
                </a:solidFill>
              </a:rPr>
              <a:t>If D7 bit is 1(busy flag=1), the LCD is busy taking the internal operations and will not accept any new information.</a:t>
            </a:r>
            <a:endParaRPr lang="en-IN" sz="2400" dirty="0">
              <a:solidFill>
                <a:srgbClr val="00B050"/>
              </a:solidFill>
            </a:endParaRPr>
          </a:p>
          <a:p>
            <a:pPr lvl="0"/>
            <a:r>
              <a:rPr lang="en-US" sz="2400" dirty="0">
                <a:solidFill>
                  <a:srgbClr val="00B050"/>
                </a:solidFill>
              </a:rPr>
              <a:t>If D7 bit is 0(busy flag=0), the LCD is ready to receive new information.</a:t>
            </a:r>
            <a:endParaRPr lang="en-IN" sz="2400" dirty="0">
              <a:solidFill>
                <a:srgbClr val="00B050"/>
              </a:solidFill>
            </a:endParaRPr>
          </a:p>
          <a:p>
            <a:r>
              <a:rPr lang="en-US" sz="2400" dirty="0">
                <a:solidFill>
                  <a:srgbClr val="00B050"/>
                </a:solidFill>
              </a:rPr>
              <a:t>It is recommended to check the busy flag before giving data to LCD.</a:t>
            </a:r>
            <a:endParaRPr lang="en-IN" sz="2400" dirty="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180759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30223" y="846831"/>
            <a:ext cx="9280038" cy="43513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3123474" y="5924282"/>
            <a:ext cx="5999399" cy="461665"/>
          </a:xfrm>
          <a:prstGeom prst="rect">
            <a:avLst/>
          </a:prstGeom>
          <a:noFill/>
        </p:spPr>
        <p:txBody>
          <a:bodyPr wrap="none" rtlCol="0">
            <a:spAutoFit/>
          </a:bodyPr>
          <a:lstStyle/>
          <a:p>
            <a:r>
              <a:rPr lang="en-IN" sz="2400" b="1" dirty="0" smtClean="0">
                <a:solidFill>
                  <a:srgbClr val="0070C0"/>
                </a:solidFill>
              </a:rPr>
              <a:t>Figure: LCD Timing for READ(L-to-H for E-Line)</a:t>
            </a:r>
            <a:endParaRPr lang="en-IN" sz="2400" b="1" dirty="0">
              <a:solidFill>
                <a:srgbClr val="0070C0"/>
              </a:solidFill>
            </a:endParaRPr>
          </a:p>
        </p:txBody>
      </p:sp>
    </p:spTree>
    <p:extLst>
      <p:ext uri="{BB962C8B-B14F-4D97-AF65-F5344CB8AC3E}">
        <p14:creationId xmlns:p14="http://schemas.microsoft.com/office/powerpoint/2010/main" val="25078415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65125" y="653648"/>
            <a:ext cx="9235987" cy="43513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3020294" y="5975796"/>
            <a:ext cx="6125651" cy="461665"/>
          </a:xfrm>
          <a:prstGeom prst="rect">
            <a:avLst/>
          </a:prstGeom>
          <a:noFill/>
        </p:spPr>
        <p:txBody>
          <a:bodyPr wrap="none" rtlCol="0">
            <a:spAutoFit/>
          </a:bodyPr>
          <a:lstStyle/>
          <a:p>
            <a:pPr algn="ctr"/>
            <a:r>
              <a:rPr lang="en-IN" sz="2400" b="1" dirty="0" smtClean="0">
                <a:solidFill>
                  <a:srgbClr val="0070C0"/>
                </a:solidFill>
              </a:rPr>
              <a:t>Figure : LCD Timing for Write (H-to-L for E Line)</a:t>
            </a:r>
            <a:endParaRPr lang="en-IN" sz="2400" b="1" dirty="0">
              <a:solidFill>
                <a:srgbClr val="0070C0"/>
              </a:solidFill>
            </a:endParaRPr>
          </a:p>
        </p:txBody>
      </p:sp>
    </p:spTree>
    <p:extLst>
      <p:ext uri="{BB962C8B-B14F-4D97-AF65-F5344CB8AC3E}">
        <p14:creationId xmlns:p14="http://schemas.microsoft.com/office/powerpoint/2010/main" val="30684793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9"/>
            <a:ext cx="10515600" cy="922762"/>
          </a:xfrm>
        </p:spPr>
        <p:txBody>
          <a:bodyPr>
            <a:normAutofit/>
          </a:bodyPr>
          <a:lstStyle/>
          <a:p>
            <a:pPr algn="ctr"/>
            <a:r>
              <a:rPr lang="en-IN" sz="2800" b="1" dirty="0" smtClean="0">
                <a:solidFill>
                  <a:srgbClr val="0070C0"/>
                </a:solidFill>
                <a:latin typeface="+mn-lt"/>
              </a:rPr>
              <a:t>LCD ADDRESSING</a:t>
            </a:r>
            <a:endParaRPr lang="en-IN" sz="2800" b="1" dirty="0">
              <a:solidFill>
                <a:srgbClr val="0070C0"/>
              </a:solidFill>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66673589"/>
              </p:ext>
            </p:extLst>
          </p:nvPr>
        </p:nvGraphicFramePr>
        <p:xfrm>
          <a:off x="941231" y="2781792"/>
          <a:ext cx="10515604" cy="1010920"/>
        </p:xfrm>
        <a:graphic>
          <a:graphicData uri="http://schemas.openxmlformats.org/drawingml/2006/table">
            <a:tbl>
              <a:tblPr firstRow="1" bandRow="1">
                <a:tableStyleId>{5C22544A-7EE6-4342-B048-85BDC9FD1C3A}</a:tableStyleId>
              </a:tblPr>
              <a:tblGrid>
                <a:gridCol w="955964"/>
                <a:gridCol w="955964"/>
                <a:gridCol w="955964"/>
                <a:gridCol w="955964"/>
                <a:gridCol w="955964"/>
                <a:gridCol w="955964"/>
                <a:gridCol w="955964"/>
                <a:gridCol w="955964"/>
                <a:gridCol w="955964"/>
                <a:gridCol w="955964"/>
                <a:gridCol w="955964"/>
              </a:tblGrid>
              <a:tr h="592473">
                <a:tc>
                  <a:txBody>
                    <a:bodyPr/>
                    <a:lstStyle/>
                    <a:p>
                      <a:pPr algn="ctr"/>
                      <a:r>
                        <a:rPr lang="en-IN" dirty="0" smtClean="0">
                          <a:solidFill>
                            <a:srgbClr val="FFFF00"/>
                          </a:solidFill>
                        </a:rPr>
                        <a:t>16X2</a:t>
                      </a:r>
                      <a:r>
                        <a:rPr lang="en-IN" baseline="0" dirty="0" smtClean="0">
                          <a:solidFill>
                            <a:srgbClr val="FFFF00"/>
                          </a:solidFill>
                        </a:rPr>
                        <a:t> LCD</a:t>
                      </a:r>
                      <a:endParaRPr lang="en-IN" dirty="0">
                        <a:solidFill>
                          <a:srgbClr val="FFFF00"/>
                        </a:solidFill>
                      </a:endParaRPr>
                    </a:p>
                  </a:txBody>
                  <a:tcPr/>
                </a:tc>
                <a:tc>
                  <a:txBody>
                    <a:bodyPr/>
                    <a:lstStyle/>
                    <a:p>
                      <a:pPr algn="ctr"/>
                      <a:r>
                        <a:rPr lang="en-IN" dirty="0" smtClean="0">
                          <a:solidFill>
                            <a:srgbClr val="FFFF00"/>
                          </a:solidFill>
                        </a:rPr>
                        <a:t>80</a:t>
                      </a:r>
                      <a:endParaRPr lang="en-IN" dirty="0">
                        <a:solidFill>
                          <a:srgbClr val="FFFF00"/>
                        </a:solidFill>
                      </a:endParaRPr>
                    </a:p>
                  </a:txBody>
                  <a:tcPr/>
                </a:tc>
                <a:tc>
                  <a:txBody>
                    <a:bodyPr/>
                    <a:lstStyle/>
                    <a:p>
                      <a:pPr algn="ctr"/>
                      <a:r>
                        <a:rPr lang="en-IN" dirty="0" smtClean="0">
                          <a:solidFill>
                            <a:srgbClr val="FFFF00"/>
                          </a:solidFill>
                        </a:rPr>
                        <a:t>81</a:t>
                      </a:r>
                      <a:endParaRPr lang="en-IN" dirty="0">
                        <a:solidFill>
                          <a:srgbClr val="FFFF00"/>
                        </a:solidFill>
                      </a:endParaRPr>
                    </a:p>
                  </a:txBody>
                  <a:tcPr/>
                </a:tc>
                <a:tc>
                  <a:txBody>
                    <a:bodyPr/>
                    <a:lstStyle/>
                    <a:p>
                      <a:pPr algn="ctr"/>
                      <a:r>
                        <a:rPr lang="en-IN" dirty="0" smtClean="0">
                          <a:solidFill>
                            <a:srgbClr val="FFFF00"/>
                          </a:solidFill>
                        </a:rPr>
                        <a:t>82</a:t>
                      </a:r>
                      <a:endParaRPr lang="en-IN" dirty="0">
                        <a:solidFill>
                          <a:srgbClr val="FFFF00"/>
                        </a:solidFill>
                      </a:endParaRPr>
                    </a:p>
                  </a:txBody>
                  <a:tcPr/>
                </a:tc>
                <a:tc>
                  <a:txBody>
                    <a:bodyPr/>
                    <a:lstStyle/>
                    <a:p>
                      <a:pPr algn="ctr"/>
                      <a:r>
                        <a:rPr lang="en-IN" dirty="0" smtClean="0">
                          <a:solidFill>
                            <a:srgbClr val="FFFF00"/>
                          </a:solidFill>
                        </a:rPr>
                        <a:t>83</a:t>
                      </a:r>
                      <a:endParaRPr lang="en-IN" dirty="0">
                        <a:solidFill>
                          <a:srgbClr val="FFFF00"/>
                        </a:solidFill>
                      </a:endParaRPr>
                    </a:p>
                  </a:txBody>
                  <a:tcPr/>
                </a:tc>
                <a:tc>
                  <a:txBody>
                    <a:bodyPr/>
                    <a:lstStyle/>
                    <a:p>
                      <a:pPr algn="ctr"/>
                      <a:r>
                        <a:rPr lang="en-IN" dirty="0" smtClean="0">
                          <a:solidFill>
                            <a:srgbClr val="FFFF00"/>
                          </a:solidFill>
                        </a:rPr>
                        <a:t>84</a:t>
                      </a:r>
                      <a:endParaRPr lang="en-IN" dirty="0">
                        <a:solidFill>
                          <a:srgbClr val="FFFF00"/>
                        </a:solidFill>
                      </a:endParaRPr>
                    </a:p>
                  </a:txBody>
                  <a:tcPr/>
                </a:tc>
                <a:tc>
                  <a:txBody>
                    <a:bodyPr/>
                    <a:lstStyle/>
                    <a:p>
                      <a:pPr algn="ctr"/>
                      <a:r>
                        <a:rPr lang="en-IN" dirty="0" smtClean="0">
                          <a:solidFill>
                            <a:srgbClr val="FFFF00"/>
                          </a:solidFill>
                        </a:rPr>
                        <a:t>85</a:t>
                      </a:r>
                      <a:endParaRPr lang="en-IN" dirty="0">
                        <a:solidFill>
                          <a:srgbClr val="FFFF00"/>
                        </a:solidFill>
                      </a:endParaRPr>
                    </a:p>
                  </a:txBody>
                  <a:tcPr/>
                </a:tc>
                <a:tc>
                  <a:txBody>
                    <a:bodyPr/>
                    <a:lstStyle/>
                    <a:p>
                      <a:pPr algn="ctr"/>
                      <a:r>
                        <a:rPr lang="en-IN" dirty="0" smtClean="0">
                          <a:solidFill>
                            <a:srgbClr val="FFFF00"/>
                          </a:solidFill>
                        </a:rPr>
                        <a:t>86</a:t>
                      </a:r>
                      <a:endParaRPr lang="en-IN" dirty="0">
                        <a:solidFill>
                          <a:srgbClr val="FFFF00"/>
                        </a:solidFill>
                      </a:endParaRPr>
                    </a:p>
                  </a:txBody>
                  <a:tcPr/>
                </a:tc>
                <a:tc>
                  <a:txBody>
                    <a:bodyPr/>
                    <a:lstStyle/>
                    <a:p>
                      <a:pPr algn="ctr"/>
                      <a:r>
                        <a:rPr lang="en-IN" dirty="0" smtClean="0">
                          <a:solidFill>
                            <a:srgbClr val="FFFF00"/>
                          </a:solidFill>
                        </a:rPr>
                        <a:t>87</a:t>
                      </a:r>
                      <a:endParaRPr lang="en-IN" dirty="0">
                        <a:solidFill>
                          <a:srgbClr val="FFFF00"/>
                        </a:solidFill>
                      </a:endParaRPr>
                    </a:p>
                  </a:txBody>
                  <a:tcPr/>
                </a:tc>
                <a:tc>
                  <a:txBody>
                    <a:bodyPr/>
                    <a:lstStyle/>
                    <a:p>
                      <a:pPr algn="ctr"/>
                      <a:r>
                        <a:rPr lang="en-IN" dirty="0" smtClean="0">
                          <a:solidFill>
                            <a:srgbClr val="FFFF00"/>
                          </a:solidFill>
                        </a:rPr>
                        <a:t>...</a:t>
                      </a:r>
                      <a:endParaRPr lang="en-IN" dirty="0">
                        <a:solidFill>
                          <a:srgbClr val="FFFF00"/>
                        </a:solidFill>
                      </a:endParaRPr>
                    </a:p>
                  </a:txBody>
                  <a:tcPr/>
                </a:tc>
                <a:tc>
                  <a:txBody>
                    <a:bodyPr/>
                    <a:lstStyle/>
                    <a:p>
                      <a:pPr algn="ctr"/>
                      <a:r>
                        <a:rPr lang="en-IN" dirty="0" smtClean="0">
                          <a:solidFill>
                            <a:srgbClr val="FFFF00"/>
                          </a:solidFill>
                        </a:rPr>
                        <a:t>8F</a:t>
                      </a:r>
                      <a:endParaRPr lang="en-IN" dirty="0">
                        <a:solidFill>
                          <a:srgbClr val="FFFF00"/>
                        </a:solidFill>
                      </a:endParaRPr>
                    </a:p>
                  </a:txBody>
                  <a:tcPr/>
                </a:tc>
              </a:tr>
              <a:tr h="370840">
                <a:tc>
                  <a:txBody>
                    <a:bodyPr/>
                    <a:lstStyle/>
                    <a:p>
                      <a:pPr algn="ct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C0</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C1</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C2</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C3</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C4</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C5</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C6</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C7</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a:t>
                      </a:r>
                      <a:endParaRPr lang="en-IN" b="1" dirty="0">
                        <a:solidFill>
                          <a:srgbClr val="FFFF00"/>
                        </a:solidFill>
                      </a:endParaRPr>
                    </a:p>
                  </a:txBody>
                  <a:tcPr>
                    <a:solidFill>
                      <a:schemeClr val="accent1"/>
                    </a:solidFill>
                  </a:tcPr>
                </a:tc>
                <a:tc>
                  <a:txBody>
                    <a:bodyPr/>
                    <a:lstStyle/>
                    <a:p>
                      <a:pPr algn="ctr"/>
                      <a:r>
                        <a:rPr lang="en-IN" b="1" dirty="0" smtClean="0">
                          <a:solidFill>
                            <a:srgbClr val="FFFF00"/>
                          </a:solidFill>
                        </a:rPr>
                        <a:t>CF</a:t>
                      </a:r>
                      <a:endParaRPr lang="en-IN" b="1" dirty="0">
                        <a:solidFill>
                          <a:srgbClr val="FFFF00"/>
                        </a:solidFill>
                      </a:endParaRPr>
                    </a:p>
                  </a:txBody>
                  <a:tcPr>
                    <a:solidFill>
                      <a:schemeClr val="accent1"/>
                    </a:solidFill>
                  </a:tcPr>
                </a:tc>
              </a:tr>
            </a:tbl>
          </a:graphicData>
        </a:graphic>
      </p:graphicFrame>
    </p:spTree>
    <p:extLst>
      <p:ext uri="{BB962C8B-B14F-4D97-AF65-F5344CB8AC3E}">
        <p14:creationId xmlns:p14="http://schemas.microsoft.com/office/powerpoint/2010/main" val="33468969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031"/>
            <a:ext cx="10515600" cy="785611"/>
          </a:xfrm>
        </p:spPr>
        <p:txBody>
          <a:bodyPr/>
          <a:lstStyle/>
          <a:p>
            <a:pPr algn="ctr"/>
            <a:r>
              <a:rPr lang="en-IN" dirty="0" smtClean="0"/>
              <a:t>Program for 8051 microcontroller</a:t>
            </a:r>
            <a:endParaRPr lang="en-IN" dirty="0"/>
          </a:p>
        </p:txBody>
      </p:sp>
      <p:sp>
        <p:nvSpPr>
          <p:cNvPr id="3" name="Content Placeholder 2"/>
          <p:cNvSpPr>
            <a:spLocks noGrp="1"/>
          </p:cNvSpPr>
          <p:nvPr>
            <p:ph idx="1"/>
          </p:nvPr>
        </p:nvSpPr>
        <p:spPr>
          <a:xfrm>
            <a:off x="838200" y="1133342"/>
            <a:ext cx="10515600" cy="5241700"/>
          </a:xfrm>
        </p:spPr>
        <p:txBody>
          <a:bodyPr>
            <a:normAutofit fontScale="40000" lnSpcReduction="20000"/>
          </a:bodyPr>
          <a:lstStyle/>
          <a:p>
            <a:pPr marL="0" indent="0">
              <a:buNone/>
            </a:pPr>
            <a:r>
              <a:rPr lang="en-IN" dirty="0"/>
              <a:t>#include&lt;reg51.h&gt;</a:t>
            </a:r>
          </a:p>
          <a:p>
            <a:pPr marL="0" indent="0">
              <a:buNone/>
            </a:pPr>
            <a:endParaRPr lang="en-IN" dirty="0"/>
          </a:p>
          <a:p>
            <a:pPr marL="0" indent="0">
              <a:buNone/>
            </a:pPr>
            <a:r>
              <a:rPr lang="en-IN" dirty="0"/>
              <a:t>#define </a:t>
            </a:r>
            <a:r>
              <a:rPr lang="en-IN" dirty="0" err="1"/>
              <a:t>lcd_port</a:t>
            </a:r>
            <a:r>
              <a:rPr lang="en-IN" dirty="0"/>
              <a:t> P2</a:t>
            </a:r>
          </a:p>
          <a:p>
            <a:pPr marL="0" indent="0">
              <a:buNone/>
            </a:pPr>
            <a:r>
              <a:rPr lang="en-IN" dirty="0"/>
              <a:t>#define </a:t>
            </a:r>
            <a:r>
              <a:rPr lang="en-IN" dirty="0" err="1"/>
              <a:t>adc_port</a:t>
            </a:r>
            <a:r>
              <a:rPr lang="en-IN" dirty="0"/>
              <a:t> P1              //ADC Port</a:t>
            </a:r>
          </a:p>
          <a:p>
            <a:pPr marL="0" indent="0">
              <a:buNone/>
            </a:pPr>
            <a:endParaRPr lang="en-IN" dirty="0"/>
          </a:p>
          <a:p>
            <a:pPr marL="0" indent="0">
              <a:buNone/>
            </a:pPr>
            <a:r>
              <a:rPr lang="en-IN" dirty="0" err="1"/>
              <a:t>sbit</a:t>
            </a:r>
            <a:r>
              <a:rPr lang="en-IN" dirty="0"/>
              <a:t> </a:t>
            </a:r>
            <a:r>
              <a:rPr lang="en-IN" dirty="0" err="1"/>
              <a:t>rs</a:t>
            </a:r>
            <a:r>
              <a:rPr lang="en-IN" dirty="0"/>
              <a:t>=P3^0;</a:t>
            </a:r>
          </a:p>
          <a:p>
            <a:pPr marL="0" indent="0">
              <a:buNone/>
            </a:pPr>
            <a:r>
              <a:rPr lang="en-IN" dirty="0" err="1"/>
              <a:t>sbit</a:t>
            </a:r>
            <a:r>
              <a:rPr lang="en-IN" dirty="0"/>
              <a:t> </a:t>
            </a:r>
            <a:r>
              <a:rPr lang="en-IN" dirty="0" err="1"/>
              <a:t>rw</a:t>
            </a:r>
            <a:r>
              <a:rPr lang="en-IN" dirty="0"/>
              <a:t>=P3^1;</a:t>
            </a:r>
          </a:p>
          <a:p>
            <a:pPr marL="0" indent="0">
              <a:buNone/>
            </a:pPr>
            <a:r>
              <a:rPr lang="en-IN" dirty="0" err="1"/>
              <a:t>sbit</a:t>
            </a:r>
            <a:r>
              <a:rPr lang="en-IN" dirty="0"/>
              <a:t> </a:t>
            </a:r>
            <a:r>
              <a:rPr lang="en-IN" dirty="0" err="1"/>
              <a:t>en</a:t>
            </a:r>
            <a:r>
              <a:rPr lang="en-IN" dirty="0"/>
              <a:t>=P3^2;</a:t>
            </a:r>
          </a:p>
          <a:p>
            <a:pPr marL="0" indent="0">
              <a:buNone/>
            </a:pPr>
            <a:r>
              <a:rPr lang="en-IN" dirty="0" err="1"/>
              <a:t>sbit</a:t>
            </a:r>
            <a:r>
              <a:rPr lang="en-IN" dirty="0"/>
              <a:t> flag=P2^7;</a:t>
            </a:r>
          </a:p>
          <a:p>
            <a:pPr marL="0" indent="0">
              <a:buNone/>
            </a:pPr>
            <a:endParaRPr lang="en-IN" dirty="0"/>
          </a:p>
          <a:p>
            <a:pPr marL="0" indent="0">
              <a:buNone/>
            </a:pPr>
            <a:r>
              <a:rPr lang="en-IN" dirty="0"/>
              <a:t>void busy()</a:t>
            </a:r>
          </a:p>
          <a:p>
            <a:pPr marL="0" indent="0">
              <a:buNone/>
            </a:pPr>
            <a:r>
              <a:rPr lang="en-IN" dirty="0"/>
              <a:t>{				  </a:t>
            </a:r>
          </a:p>
          <a:p>
            <a:pPr marL="0" indent="0">
              <a:buNone/>
            </a:pPr>
            <a:r>
              <a:rPr lang="en-IN" dirty="0"/>
              <a:t>	flag=1;</a:t>
            </a:r>
          </a:p>
          <a:p>
            <a:pPr marL="0" indent="0">
              <a:buNone/>
            </a:pPr>
            <a:r>
              <a:rPr lang="en-IN" dirty="0"/>
              <a:t>	</a:t>
            </a:r>
            <a:r>
              <a:rPr lang="en-IN" dirty="0" err="1"/>
              <a:t>rs</a:t>
            </a:r>
            <a:r>
              <a:rPr lang="en-IN" dirty="0"/>
              <a:t>=0;</a:t>
            </a:r>
          </a:p>
          <a:p>
            <a:pPr marL="0" indent="0">
              <a:buNone/>
            </a:pPr>
            <a:r>
              <a:rPr lang="en-IN" dirty="0"/>
              <a:t>	</a:t>
            </a:r>
            <a:r>
              <a:rPr lang="en-IN" dirty="0" err="1"/>
              <a:t>rw</a:t>
            </a:r>
            <a:r>
              <a:rPr lang="en-IN" dirty="0"/>
              <a:t>=1;</a:t>
            </a:r>
          </a:p>
          <a:p>
            <a:pPr marL="0" indent="0">
              <a:buNone/>
            </a:pPr>
            <a:r>
              <a:rPr lang="en-IN" dirty="0"/>
              <a:t>	while(flag!=0)</a:t>
            </a:r>
          </a:p>
          <a:p>
            <a:pPr marL="0" indent="0">
              <a:buNone/>
            </a:pPr>
            <a:r>
              <a:rPr lang="en-IN" dirty="0"/>
              <a:t>	{</a:t>
            </a:r>
          </a:p>
          <a:p>
            <a:pPr marL="0" indent="0">
              <a:buNone/>
            </a:pPr>
            <a:r>
              <a:rPr lang="en-IN" dirty="0"/>
              <a:t>		</a:t>
            </a:r>
            <a:r>
              <a:rPr lang="en-IN" dirty="0" err="1"/>
              <a:t>en</a:t>
            </a:r>
            <a:r>
              <a:rPr lang="en-IN" dirty="0"/>
              <a:t>=0;</a:t>
            </a:r>
          </a:p>
          <a:p>
            <a:pPr marL="0" indent="0">
              <a:buNone/>
            </a:pPr>
            <a:r>
              <a:rPr lang="en-IN" dirty="0"/>
              <a:t>		</a:t>
            </a:r>
            <a:r>
              <a:rPr lang="en-IN" dirty="0" err="1"/>
              <a:t>en</a:t>
            </a:r>
            <a:r>
              <a:rPr lang="en-IN" dirty="0"/>
              <a:t>=1;</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985223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858000"/>
          </a:xfrm>
        </p:spPr>
        <p:txBody>
          <a:bodyPr>
            <a:normAutofit fontScale="77500" lnSpcReduction="20000"/>
          </a:bodyPr>
          <a:lstStyle/>
          <a:p>
            <a:pPr marL="0" indent="0">
              <a:buNone/>
            </a:pPr>
            <a:r>
              <a:rPr lang="en-IN" dirty="0"/>
              <a:t>void </a:t>
            </a:r>
            <a:r>
              <a:rPr lang="en-IN" dirty="0" err="1"/>
              <a:t>lcd_cmd</a:t>
            </a:r>
            <a:r>
              <a:rPr lang="en-IN" dirty="0"/>
              <a:t>(unsigned char </a:t>
            </a:r>
            <a:r>
              <a:rPr lang="en-IN" dirty="0" err="1"/>
              <a:t>val_lcd</a:t>
            </a:r>
            <a:r>
              <a:rPr lang="en-IN" dirty="0"/>
              <a:t>)</a:t>
            </a:r>
          </a:p>
          <a:p>
            <a:pPr marL="0" indent="0">
              <a:buNone/>
            </a:pPr>
            <a:r>
              <a:rPr lang="en-IN" dirty="0"/>
              <a:t>{</a:t>
            </a:r>
          </a:p>
          <a:p>
            <a:pPr marL="0" indent="0">
              <a:buNone/>
            </a:pPr>
            <a:r>
              <a:rPr lang="en-IN" dirty="0"/>
              <a:t>	busy();</a:t>
            </a:r>
          </a:p>
          <a:p>
            <a:pPr marL="0" indent="0">
              <a:buNone/>
            </a:pPr>
            <a:r>
              <a:rPr lang="en-IN" dirty="0"/>
              <a:t>	</a:t>
            </a:r>
            <a:r>
              <a:rPr lang="en-IN" dirty="0" err="1"/>
              <a:t>lcd_port</a:t>
            </a:r>
            <a:r>
              <a:rPr lang="en-IN" dirty="0"/>
              <a:t>=</a:t>
            </a:r>
            <a:r>
              <a:rPr lang="en-IN" dirty="0" err="1"/>
              <a:t>val_lcd</a:t>
            </a:r>
            <a:r>
              <a:rPr lang="en-IN" dirty="0"/>
              <a:t>;</a:t>
            </a:r>
          </a:p>
          <a:p>
            <a:pPr marL="0" indent="0">
              <a:buNone/>
            </a:pPr>
            <a:r>
              <a:rPr lang="en-IN" dirty="0"/>
              <a:t>	</a:t>
            </a:r>
            <a:r>
              <a:rPr lang="en-IN" dirty="0" err="1"/>
              <a:t>rs</a:t>
            </a:r>
            <a:r>
              <a:rPr lang="en-IN" dirty="0"/>
              <a:t>=0;</a:t>
            </a:r>
          </a:p>
          <a:p>
            <a:pPr marL="0" indent="0">
              <a:buNone/>
            </a:pPr>
            <a:r>
              <a:rPr lang="en-IN" dirty="0"/>
              <a:t>	</a:t>
            </a:r>
            <a:r>
              <a:rPr lang="en-IN" dirty="0" err="1"/>
              <a:t>rw</a:t>
            </a:r>
            <a:r>
              <a:rPr lang="en-IN" dirty="0"/>
              <a:t>=0;</a:t>
            </a:r>
          </a:p>
          <a:p>
            <a:pPr marL="0" indent="0">
              <a:buNone/>
            </a:pPr>
            <a:r>
              <a:rPr lang="en-IN" dirty="0"/>
              <a:t>	</a:t>
            </a:r>
            <a:r>
              <a:rPr lang="en-IN" dirty="0" err="1"/>
              <a:t>en</a:t>
            </a:r>
            <a:r>
              <a:rPr lang="en-IN" dirty="0"/>
              <a:t>=1;</a:t>
            </a:r>
          </a:p>
          <a:p>
            <a:pPr marL="0" indent="0">
              <a:buNone/>
            </a:pPr>
            <a:r>
              <a:rPr lang="en-IN" dirty="0"/>
              <a:t>	</a:t>
            </a:r>
            <a:r>
              <a:rPr lang="en-IN" dirty="0" err="1"/>
              <a:t>en</a:t>
            </a:r>
            <a:r>
              <a:rPr lang="en-IN" dirty="0"/>
              <a:t>=0;</a:t>
            </a:r>
          </a:p>
          <a:p>
            <a:pPr marL="0" indent="0">
              <a:buNone/>
            </a:pPr>
            <a:r>
              <a:rPr lang="en-IN" dirty="0"/>
              <a:t>}</a:t>
            </a:r>
          </a:p>
          <a:p>
            <a:pPr marL="0" indent="0">
              <a:buNone/>
            </a:pPr>
            <a:endParaRPr lang="en-IN" dirty="0"/>
          </a:p>
          <a:p>
            <a:pPr marL="0" indent="0">
              <a:buNone/>
            </a:pPr>
            <a:r>
              <a:rPr lang="en-IN" dirty="0"/>
              <a:t>void </a:t>
            </a:r>
            <a:r>
              <a:rPr lang="en-IN" dirty="0" err="1"/>
              <a:t>lcd_data</a:t>
            </a:r>
            <a:r>
              <a:rPr lang="en-IN" dirty="0"/>
              <a:t>(unsigned char </a:t>
            </a:r>
            <a:r>
              <a:rPr lang="en-IN" dirty="0" err="1"/>
              <a:t>dat</a:t>
            </a:r>
            <a:r>
              <a:rPr lang="en-IN" dirty="0"/>
              <a:t>)</a:t>
            </a:r>
          </a:p>
          <a:p>
            <a:pPr marL="0" indent="0">
              <a:buNone/>
            </a:pPr>
            <a:r>
              <a:rPr lang="en-IN" dirty="0"/>
              <a:t>{</a:t>
            </a:r>
          </a:p>
          <a:p>
            <a:pPr marL="0" indent="0">
              <a:buNone/>
            </a:pPr>
            <a:r>
              <a:rPr lang="en-IN" dirty="0"/>
              <a:t>	busy();</a:t>
            </a:r>
          </a:p>
          <a:p>
            <a:pPr marL="0" indent="0">
              <a:buNone/>
            </a:pPr>
            <a:r>
              <a:rPr lang="en-IN" dirty="0"/>
              <a:t>	</a:t>
            </a:r>
            <a:r>
              <a:rPr lang="en-IN" dirty="0" err="1"/>
              <a:t>lcd_port</a:t>
            </a:r>
            <a:r>
              <a:rPr lang="en-IN" dirty="0"/>
              <a:t>=</a:t>
            </a:r>
            <a:r>
              <a:rPr lang="en-IN" dirty="0" err="1"/>
              <a:t>dat</a:t>
            </a:r>
            <a:r>
              <a:rPr lang="en-IN" dirty="0"/>
              <a:t>;</a:t>
            </a:r>
          </a:p>
          <a:p>
            <a:pPr marL="0" indent="0">
              <a:buNone/>
            </a:pPr>
            <a:r>
              <a:rPr lang="en-IN" dirty="0"/>
              <a:t>	</a:t>
            </a:r>
            <a:r>
              <a:rPr lang="en-IN" dirty="0" err="1"/>
              <a:t>rs</a:t>
            </a:r>
            <a:r>
              <a:rPr lang="en-IN" dirty="0"/>
              <a:t>=1;</a:t>
            </a:r>
          </a:p>
          <a:p>
            <a:pPr marL="0" indent="0">
              <a:buNone/>
            </a:pPr>
            <a:r>
              <a:rPr lang="en-IN" dirty="0"/>
              <a:t>	</a:t>
            </a:r>
            <a:r>
              <a:rPr lang="en-IN" dirty="0" err="1"/>
              <a:t>rw</a:t>
            </a:r>
            <a:r>
              <a:rPr lang="en-IN" dirty="0"/>
              <a:t>=0;</a:t>
            </a:r>
          </a:p>
          <a:p>
            <a:pPr marL="0" indent="0">
              <a:buNone/>
            </a:pPr>
            <a:r>
              <a:rPr lang="en-IN" dirty="0"/>
              <a:t>	</a:t>
            </a:r>
            <a:r>
              <a:rPr lang="en-IN" dirty="0" err="1"/>
              <a:t>en</a:t>
            </a:r>
            <a:r>
              <a:rPr lang="en-IN" dirty="0"/>
              <a:t>=1;</a:t>
            </a:r>
          </a:p>
          <a:p>
            <a:pPr marL="0" indent="0">
              <a:buNone/>
            </a:pPr>
            <a:r>
              <a:rPr lang="en-IN" dirty="0"/>
              <a:t>	</a:t>
            </a:r>
            <a:r>
              <a:rPr lang="en-IN" dirty="0" err="1"/>
              <a:t>en</a:t>
            </a:r>
            <a:r>
              <a:rPr lang="en-IN" dirty="0"/>
              <a:t>=0;</a:t>
            </a:r>
          </a:p>
          <a:p>
            <a:pPr marL="0" indent="0">
              <a:buNone/>
            </a:pPr>
            <a:r>
              <a:rPr lang="en-IN" dirty="0"/>
              <a:t>}</a:t>
            </a:r>
          </a:p>
        </p:txBody>
      </p:sp>
    </p:spTree>
    <p:extLst>
      <p:ext uri="{BB962C8B-B14F-4D97-AF65-F5344CB8AC3E}">
        <p14:creationId xmlns:p14="http://schemas.microsoft.com/office/powerpoint/2010/main" val="1542183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709893"/>
          </a:xfrm>
        </p:spPr>
        <p:txBody>
          <a:bodyPr>
            <a:normAutofit fontScale="92500" lnSpcReduction="10000"/>
          </a:bodyPr>
          <a:lstStyle/>
          <a:p>
            <a:pPr marL="0" indent="0">
              <a:buNone/>
            </a:pPr>
            <a:r>
              <a:rPr lang="en-IN" dirty="0"/>
              <a:t>void </a:t>
            </a:r>
            <a:r>
              <a:rPr lang="en-IN" dirty="0" err="1"/>
              <a:t>lcd_string</a:t>
            </a:r>
            <a:r>
              <a:rPr lang="en-IN" dirty="0"/>
              <a:t>(unsigned char *string)</a:t>
            </a:r>
          </a:p>
          <a:p>
            <a:pPr marL="0" indent="0">
              <a:buNone/>
            </a:pPr>
            <a:r>
              <a:rPr lang="en-IN" dirty="0"/>
              <a:t>{</a:t>
            </a:r>
          </a:p>
          <a:p>
            <a:pPr marL="0" indent="0">
              <a:buNone/>
            </a:pPr>
            <a:r>
              <a:rPr lang="en-IN" dirty="0"/>
              <a:t>	while(*string)</a:t>
            </a:r>
          </a:p>
          <a:p>
            <a:pPr marL="0" indent="0">
              <a:buNone/>
            </a:pPr>
            <a:r>
              <a:rPr lang="en-IN" dirty="0"/>
              <a:t>		</a:t>
            </a:r>
            <a:r>
              <a:rPr lang="en-IN" dirty="0" err="1"/>
              <a:t>lcd_data</a:t>
            </a:r>
            <a:r>
              <a:rPr lang="en-IN" dirty="0"/>
              <a:t>(*string++);</a:t>
            </a:r>
          </a:p>
          <a:p>
            <a:pPr marL="0" indent="0">
              <a:buNone/>
            </a:pPr>
            <a:r>
              <a:rPr lang="en-IN" dirty="0"/>
              <a:t>}</a:t>
            </a:r>
          </a:p>
          <a:p>
            <a:pPr marL="0" indent="0">
              <a:buNone/>
            </a:pPr>
            <a:endParaRPr lang="en-IN" dirty="0"/>
          </a:p>
          <a:p>
            <a:pPr marL="0" indent="0">
              <a:buNone/>
            </a:pPr>
            <a:r>
              <a:rPr lang="en-IN" dirty="0"/>
              <a:t>void </a:t>
            </a:r>
            <a:r>
              <a:rPr lang="en-IN" dirty="0" err="1"/>
              <a:t>lcd_init</a:t>
            </a:r>
            <a:r>
              <a:rPr lang="en-IN" dirty="0"/>
              <a:t>(void)</a:t>
            </a:r>
          </a:p>
          <a:p>
            <a:pPr marL="0" indent="0">
              <a:buNone/>
            </a:pPr>
            <a:r>
              <a:rPr lang="en-IN" dirty="0"/>
              <a:t>{</a:t>
            </a:r>
          </a:p>
          <a:p>
            <a:pPr marL="0" indent="0">
              <a:buNone/>
            </a:pPr>
            <a:r>
              <a:rPr lang="en-IN" dirty="0"/>
              <a:t>	</a:t>
            </a:r>
            <a:r>
              <a:rPr lang="en-IN" dirty="0" err="1"/>
              <a:t>lcd_cmd</a:t>
            </a:r>
            <a:r>
              <a:rPr lang="en-IN" dirty="0"/>
              <a:t>(0x02);	//Return home</a:t>
            </a:r>
          </a:p>
          <a:p>
            <a:pPr marL="0" indent="0">
              <a:buNone/>
            </a:pPr>
            <a:r>
              <a:rPr lang="en-IN" dirty="0"/>
              <a:t>	</a:t>
            </a:r>
            <a:r>
              <a:rPr lang="en-IN" dirty="0" err="1"/>
              <a:t>lcd_cmd</a:t>
            </a:r>
            <a:r>
              <a:rPr lang="en-IN" dirty="0"/>
              <a:t>(0x38);	// 2 lines and 5x7 matrix</a:t>
            </a:r>
          </a:p>
          <a:p>
            <a:pPr marL="0" indent="0">
              <a:buNone/>
            </a:pPr>
            <a:r>
              <a:rPr lang="en-IN" dirty="0"/>
              <a:t>	</a:t>
            </a:r>
            <a:r>
              <a:rPr lang="en-IN" dirty="0" err="1"/>
              <a:t>lcd_cmd</a:t>
            </a:r>
            <a:r>
              <a:rPr lang="en-IN" dirty="0"/>
              <a:t>(0x01);	//clear display screen</a:t>
            </a:r>
          </a:p>
          <a:p>
            <a:pPr marL="0" indent="0">
              <a:buNone/>
            </a:pPr>
            <a:r>
              <a:rPr lang="en-IN" dirty="0"/>
              <a:t>	</a:t>
            </a:r>
            <a:r>
              <a:rPr lang="en-IN" dirty="0" err="1"/>
              <a:t>lcd_cmd</a:t>
            </a:r>
            <a:r>
              <a:rPr lang="en-IN" dirty="0"/>
              <a:t>(0x0c);	//display </a:t>
            </a:r>
            <a:r>
              <a:rPr lang="en-IN" dirty="0" err="1"/>
              <a:t>on,cursor</a:t>
            </a:r>
            <a:r>
              <a:rPr lang="en-IN" dirty="0"/>
              <a:t> off</a:t>
            </a:r>
          </a:p>
          <a:p>
            <a:pPr marL="0" indent="0">
              <a:buNone/>
            </a:pPr>
            <a:r>
              <a:rPr lang="en-IN" dirty="0"/>
              <a:t>	</a:t>
            </a:r>
            <a:r>
              <a:rPr lang="en-IN" dirty="0" err="1"/>
              <a:t>lcd_cmd</a:t>
            </a:r>
            <a:r>
              <a:rPr lang="en-IN" dirty="0"/>
              <a:t>(0x06);	//Increment cursor(shift cursor to left)</a:t>
            </a:r>
          </a:p>
          <a:p>
            <a:pPr marL="0" indent="0">
              <a:buNone/>
            </a:pPr>
            <a:r>
              <a:rPr lang="en-IN" dirty="0"/>
              <a:t>	</a:t>
            </a:r>
            <a:r>
              <a:rPr lang="en-IN" dirty="0" err="1"/>
              <a:t>lcd_cmd</a:t>
            </a:r>
            <a:r>
              <a:rPr lang="en-IN" dirty="0"/>
              <a:t>(0x80);	//Force cursor to beginning of 1st line</a:t>
            </a:r>
          </a:p>
          <a:p>
            <a:pPr marL="0" indent="0">
              <a:buNone/>
            </a:pPr>
            <a:r>
              <a:rPr lang="en-IN" dirty="0"/>
              <a:t>}</a:t>
            </a:r>
          </a:p>
        </p:txBody>
      </p:sp>
    </p:spTree>
    <p:extLst>
      <p:ext uri="{BB962C8B-B14F-4D97-AF65-F5344CB8AC3E}">
        <p14:creationId xmlns:p14="http://schemas.microsoft.com/office/powerpoint/2010/main" val="12524396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7425"/>
            <a:ext cx="10515600" cy="6542468"/>
          </a:xfrm>
        </p:spPr>
        <p:txBody>
          <a:bodyPr>
            <a:normAutofit fontScale="55000" lnSpcReduction="20000"/>
          </a:bodyPr>
          <a:lstStyle/>
          <a:p>
            <a:pPr marL="0" indent="0">
              <a:buNone/>
            </a:pPr>
            <a:r>
              <a:rPr lang="en-IN" dirty="0"/>
              <a:t>void hex2lcd(unsigned char hex){</a:t>
            </a:r>
          </a:p>
          <a:p>
            <a:pPr marL="0" indent="0">
              <a:buNone/>
            </a:pPr>
            <a:r>
              <a:rPr lang="en-IN" dirty="0"/>
              <a:t>	char temp1,temp2;</a:t>
            </a:r>
          </a:p>
          <a:p>
            <a:pPr marL="0" indent="0">
              <a:buNone/>
            </a:pPr>
            <a:r>
              <a:rPr lang="en-IN" dirty="0"/>
              <a:t>	temp1 = hex;</a:t>
            </a:r>
          </a:p>
          <a:p>
            <a:pPr marL="0" indent="0">
              <a:buNone/>
            </a:pPr>
            <a:r>
              <a:rPr lang="en-IN" dirty="0"/>
              <a:t>	temp2=0;</a:t>
            </a:r>
          </a:p>
          <a:p>
            <a:pPr marL="0" indent="0">
              <a:buNone/>
            </a:pPr>
            <a:r>
              <a:rPr lang="en-IN" dirty="0"/>
              <a:t>	do{</a:t>
            </a:r>
          </a:p>
          <a:p>
            <a:pPr marL="0" indent="0">
              <a:buNone/>
            </a:pPr>
            <a:r>
              <a:rPr lang="en-IN" dirty="0"/>
              <a:t>		temp1 = temp1-100;</a:t>
            </a:r>
          </a:p>
          <a:p>
            <a:pPr marL="0" indent="0">
              <a:buNone/>
            </a:pPr>
            <a:r>
              <a:rPr lang="en-IN" dirty="0"/>
              <a:t>		if(temp1&gt;=0)</a:t>
            </a:r>
          </a:p>
          <a:p>
            <a:pPr marL="0" indent="0">
              <a:buNone/>
            </a:pPr>
            <a:r>
              <a:rPr lang="en-IN" dirty="0"/>
              <a:t>			temp2++;</a:t>
            </a:r>
          </a:p>
          <a:p>
            <a:pPr marL="0" indent="0">
              <a:buNone/>
            </a:pPr>
            <a:r>
              <a:rPr lang="en-IN" dirty="0"/>
              <a:t>	} while(temp1&gt;=0);</a:t>
            </a:r>
          </a:p>
          <a:p>
            <a:pPr marL="0" indent="0">
              <a:buNone/>
            </a:pPr>
            <a:r>
              <a:rPr lang="en-IN" dirty="0"/>
              <a:t>	if(temp2&gt;0)</a:t>
            </a:r>
          </a:p>
          <a:p>
            <a:pPr marL="0" indent="0">
              <a:buNone/>
            </a:pPr>
            <a:r>
              <a:rPr lang="en-IN" dirty="0"/>
              <a:t>	</a:t>
            </a:r>
            <a:r>
              <a:rPr lang="en-IN" dirty="0" err="1"/>
              <a:t>lcd_data</a:t>
            </a:r>
            <a:r>
              <a:rPr lang="en-IN" dirty="0"/>
              <a:t>(temp2+0x30);</a:t>
            </a:r>
          </a:p>
          <a:p>
            <a:pPr marL="0" indent="0">
              <a:buNone/>
            </a:pPr>
            <a:r>
              <a:rPr lang="en-IN" dirty="0"/>
              <a:t>	temp2=0;</a:t>
            </a:r>
          </a:p>
          <a:p>
            <a:pPr marL="0" indent="0">
              <a:buNone/>
            </a:pPr>
            <a:r>
              <a:rPr lang="en-IN" dirty="0"/>
              <a:t>	temp1 = temp1+100;</a:t>
            </a:r>
          </a:p>
          <a:p>
            <a:pPr marL="0" indent="0">
              <a:buNone/>
            </a:pPr>
            <a:r>
              <a:rPr lang="en-IN" dirty="0"/>
              <a:t>	do{</a:t>
            </a:r>
          </a:p>
          <a:p>
            <a:pPr marL="0" indent="0">
              <a:buNone/>
            </a:pPr>
            <a:r>
              <a:rPr lang="en-IN" dirty="0"/>
              <a:t>		temp1 = temp1-10;</a:t>
            </a:r>
          </a:p>
          <a:p>
            <a:pPr marL="0" indent="0">
              <a:buNone/>
            </a:pPr>
            <a:r>
              <a:rPr lang="en-IN" dirty="0"/>
              <a:t>		if(temp1&gt;=0)</a:t>
            </a:r>
          </a:p>
          <a:p>
            <a:pPr marL="0" indent="0">
              <a:buNone/>
            </a:pPr>
            <a:r>
              <a:rPr lang="en-IN" dirty="0"/>
              <a:t>			temp2++;</a:t>
            </a:r>
          </a:p>
          <a:p>
            <a:pPr marL="0" indent="0">
              <a:buNone/>
            </a:pPr>
            <a:r>
              <a:rPr lang="en-IN" dirty="0"/>
              <a:t>	} while(temp1&gt;=0);</a:t>
            </a:r>
          </a:p>
          <a:p>
            <a:pPr marL="0" indent="0">
              <a:buNone/>
            </a:pPr>
            <a:r>
              <a:rPr lang="en-IN" dirty="0"/>
              <a:t>	</a:t>
            </a:r>
            <a:r>
              <a:rPr lang="en-IN" dirty="0" err="1"/>
              <a:t>lcd_data</a:t>
            </a:r>
            <a:r>
              <a:rPr lang="en-IN" dirty="0"/>
              <a:t>(temp2+0x30);</a:t>
            </a:r>
          </a:p>
          <a:p>
            <a:pPr marL="0" indent="0">
              <a:buNone/>
            </a:pPr>
            <a:r>
              <a:rPr lang="en-IN" dirty="0"/>
              <a:t>	temp2 = temp1+10;</a:t>
            </a:r>
          </a:p>
          <a:p>
            <a:pPr marL="0" indent="0">
              <a:buNone/>
            </a:pPr>
            <a:r>
              <a:rPr lang="en-IN" dirty="0"/>
              <a:t>	</a:t>
            </a:r>
            <a:r>
              <a:rPr lang="en-IN" dirty="0" err="1"/>
              <a:t>lcd_data</a:t>
            </a:r>
            <a:r>
              <a:rPr lang="en-IN" dirty="0"/>
              <a:t>(temp2+0x30);</a:t>
            </a:r>
          </a:p>
          <a:p>
            <a:pPr marL="0" indent="0">
              <a:buNone/>
            </a:pPr>
            <a:r>
              <a:rPr lang="en-IN" dirty="0"/>
              <a:t>}</a:t>
            </a:r>
          </a:p>
        </p:txBody>
      </p:sp>
    </p:spTree>
    <p:extLst>
      <p:ext uri="{BB962C8B-B14F-4D97-AF65-F5344CB8AC3E}">
        <p14:creationId xmlns:p14="http://schemas.microsoft.com/office/powerpoint/2010/main" val="36917846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4546"/>
            <a:ext cx="10515600" cy="6439437"/>
          </a:xfrm>
        </p:spPr>
        <p:txBody>
          <a:bodyPr>
            <a:normAutofit fontScale="92500" lnSpcReduction="20000"/>
          </a:bodyPr>
          <a:lstStyle/>
          <a:p>
            <a:pPr marL="0" indent="0">
              <a:buNone/>
            </a:pPr>
            <a:r>
              <a:rPr lang="en-IN" dirty="0" err="1"/>
              <a:t>sbit</a:t>
            </a:r>
            <a:r>
              <a:rPr lang="en-IN" dirty="0"/>
              <a:t> </a:t>
            </a:r>
            <a:r>
              <a:rPr lang="en-IN" dirty="0" err="1"/>
              <a:t>rd</a:t>
            </a:r>
            <a:r>
              <a:rPr lang="en-IN" dirty="0"/>
              <a:t>=P3^7;                  //Read signal P3.7</a:t>
            </a:r>
          </a:p>
          <a:p>
            <a:pPr marL="0" indent="0">
              <a:buNone/>
            </a:pPr>
            <a:r>
              <a:rPr lang="en-IN" dirty="0" err="1"/>
              <a:t>sbit</a:t>
            </a:r>
            <a:r>
              <a:rPr lang="en-IN" dirty="0"/>
              <a:t> </a:t>
            </a:r>
            <a:r>
              <a:rPr lang="en-IN" dirty="0" err="1"/>
              <a:t>wr</a:t>
            </a:r>
            <a:r>
              <a:rPr lang="en-IN" dirty="0"/>
              <a:t>=P3^6;                 //Write signal P3.6</a:t>
            </a:r>
          </a:p>
          <a:p>
            <a:pPr marL="0" indent="0">
              <a:buNone/>
            </a:pPr>
            <a:r>
              <a:rPr lang="en-IN" dirty="0" err="1"/>
              <a:t>sbit</a:t>
            </a:r>
            <a:r>
              <a:rPr lang="en-IN" dirty="0"/>
              <a:t> </a:t>
            </a:r>
            <a:r>
              <a:rPr lang="en-IN" dirty="0" err="1"/>
              <a:t>cs</a:t>
            </a:r>
            <a:r>
              <a:rPr lang="en-IN" dirty="0"/>
              <a:t>=P3^5;                  //Chip Select P3.5</a:t>
            </a:r>
          </a:p>
          <a:p>
            <a:pPr marL="0" indent="0">
              <a:buNone/>
            </a:pPr>
            <a:r>
              <a:rPr lang="en-IN" dirty="0" err="1"/>
              <a:t>sbit</a:t>
            </a:r>
            <a:r>
              <a:rPr lang="en-IN" dirty="0"/>
              <a:t> </a:t>
            </a:r>
            <a:r>
              <a:rPr lang="en-IN" dirty="0" err="1"/>
              <a:t>intr</a:t>
            </a:r>
            <a:r>
              <a:rPr lang="en-IN" dirty="0"/>
              <a:t>=P3^4;                //INTR signal P3.4</a:t>
            </a:r>
          </a:p>
          <a:p>
            <a:pPr marL="0" indent="0">
              <a:buNone/>
            </a:pPr>
            <a:endParaRPr lang="en-IN" dirty="0"/>
          </a:p>
          <a:p>
            <a:pPr marL="0" indent="0">
              <a:buNone/>
            </a:pPr>
            <a:r>
              <a:rPr lang="en-IN" dirty="0"/>
              <a:t>unsigned </a:t>
            </a:r>
            <a:r>
              <a:rPr lang="en-IN" dirty="0" err="1"/>
              <a:t>int</a:t>
            </a:r>
            <a:r>
              <a:rPr lang="en-IN" dirty="0"/>
              <a:t> </a:t>
            </a:r>
            <a:r>
              <a:rPr lang="en-IN" dirty="0" err="1"/>
              <a:t>adc_avg,adc</a:t>
            </a:r>
            <a:r>
              <a:rPr lang="en-IN" dirty="0"/>
              <a:t>;</a:t>
            </a:r>
          </a:p>
          <a:p>
            <a:pPr marL="0" indent="0">
              <a:buNone/>
            </a:pPr>
            <a:endParaRPr lang="en-IN" dirty="0"/>
          </a:p>
          <a:p>
            <a:pPr marL="0" indent="0">
              <a:buNone/>
            </a:pPr>
            <a:r>
              <a:rPr lang="en-IN" dirty="0"/>
              <a:t>void conv()</a:t>
            </a:r>
          </a:p>
          <a:p>
            <a:pPr marL="0" indent="0">
              <a:buNone/>
            </a:pPr>
            <a:r>
              <a:rPr lang="en-IN" dirty="0"/>
              <a:t>{</a:t>
            </a:r>
          </a:p>
          <a:p>
            <a:pPr marL="0" indent="0">
              <a:buNone/>
            </a:pPr>
            <a:r>
              <a:rPr lang="en-IN" dirty="0"/>
              <a:t>	</a:t>
            </a:r>
            <a:r>
              <a:rPr lang="en-IN" dirty="0" err="1"/>
              <a:t>cs</a:t>
            </a:r>
            <a:r>
              <a:rPr lang="en-IN" dirty="0"/>
              <a:t> = 0;			//Make CS low</a:t>
            </a:r>
          </a:p>
          <a:p>
            <a:pPr marL="0" indent="0">
              <a:buNone/>
            </a:pPr>
            <a:r>
              <a:rPr lang="en-IN" dirty="0"/>
              <a:t>	</a:t>
            </a:r>
            <a:r>
              <a:rPr lang="en-IN" dirty="0" err="1"/>
              <a:t>wr</a:t>
            </a:r>
            <a:r>
              <a:rPr lang="en-IN" dirty="0"/>
              <a:t> = 0;			//Make WR low</a:t>
            </a:r>
          </a:p>
          <a:p>
            <a:pPr marL="0" indent="0">
              <a:buNone/>
            </a:pPr>
            <a:r>
              <a:rPr lang="en-IN" dirty="0"/>
              <a:t>	</a:t>
            </a:r>
            <a:r>
              <a:rPr lang="en-IN" dirty="0" err="1"/>
              <a:t>wr</a:t>
            </a:r>
            <a:r>
              <a:rPr lang="en-IN" dirty="0"/>
              <a:t> = 1;			//Make WR high</a:t>
            </a:r>
          </a:p>
          <a:p>
            <a:pPr marL="0" indent="0">
              <a:buNone/>
            </a:pPr>
            <a:r>
              <a:rPr lang="en-IN" dirty="0"/>
              <a:t>	</a:t>
            </a:r>
            <a:r>
              <a:rPr lang="en-IN" dirty="0" err="1"/>
              <a:t>cs</a:t>
            </a:r>
            <a:r>
              <a:rPr lang="en-IN" dirty="0"/>
              <a:t> = 1;			//Make CS high</a:t>
            </a:r>
          </a:p>
          <a:p>
            <a:pPr marL="0" indent="0">
              <a:buNone/>
            </a:pPr>
            <a:r>
              <a:rPr lang="en-IN" dirty="0"/>
              <a:t>	while(</a:t>
            </a:r>
            <a:r>
              <a:rPr lang="en-IN" dirty="0" err="1"/>
              <a:t>intr</a:t>
            </a:r>
            <a:r>
              <a:rPr lang="en-IN" dirty="0"/>
              <a:t>);	//Wait for INTR to go low</a:t>
            </a:r>
          </a:p>
          <a:p>
            <a:pPr marL="0" indent="0">
              <a:buNone/>
            </a:pPr>
            <a:r>
              <a:rPr lang="en-IN" dirty="0"/>
              <a:t>}</a:t>
            </a:r>
          </a:p>
        </p:txBody>
      </p:sp>
    </p:spTree>
    <p:extLst>
      <p:ext uri="{BB962C8B-B14F-4D97-AF65-F5344CB8AC3E}">
        <p14:creationId xmlns:p14="http://schemas.microsoft.com/office/powerpoint/2010/main" val="16707699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304"/>
            <a:ext cx="10515600" cy="6426558"/>
          </a:xfrm>
        </p:spPr>
        <p:txBody>
          <a:bodyPr>
            <a:normAutofit fontScale="47500" lnSpcReduction="20000"/>
          </a:bodyPr>
          <a:lstStyle/>
          <a:p>
            <a:pPr marL="0" indent="0">
              <a:buNone/>
            </a:pPr>
            <a:r>
              <a:rPr lang="en-IN" dirty="0"/>
              <a:t>void read()</a:t>
            </a:r>
          </a:p>
          <a:p>
            <a:pPr marL="0" indent="0">
              <a:buNone/>
            </a:pPr>
            <a:r>
              <a:rPr lang="en-IN" dirty="0"/>
              <a:t>{</a:t>
            </a:r>
          </a:p>
          <a:p>
            <a:pPr marL="0" indent="0">
              <a:buNone/>
            </a:pPr>
            <a:r>
              <a:rPr lang="en-IN" dirty="0"/>
              <a:t>	</a:t>
            </a:r>
            <a:r>
              <a:rPr lang="en-IN" dirty="0" err="1"/>
              <a:t>cs</a:t>
            </a:r>
            <a:r>
              <a:rPr lang="en-IN" dirty="0"/>
              <a:t> = 0;			//Make CS low</a:t>
            </a:r>
          </a:p>
          <a:p>
            <a:pPr marL="0" indent="0">
              <a:buNone/>
            </a:pPr>
            <a:r>
              <a:rPr lang="en-IN" dirty="0"/>
              <a:t>	</a:t>
            </a:r>
            <a:r>
              <a:rPr lang="en-IN" dirty="0" err="1"/>
              <a:t>rd</a:t>
            </a:r>
            <a:r>
              <a:rPr lang="en-IN" dirty="0"/>
              <a:t> = 0;			//Make RD low</a:t>
            </a:r>
          </a:p>
          <a:p>
            <a:pPr marL="0" indent="0">
              <a:buNone/>
            </a:pPr>
            <a:r>
              <a:rPr lang="en-IN" dirty="0"/>
              <a:t>	</a:t>
            </a:r>
            <a:r>
              <a:rPr lang="en-IN" dirty="0" err="1"/>
              <a:t>adc</a:t>
            </a:r>
            <a:r>
              <a:rPr lang="en-IN" dirty="0"/>
              <a:t> = </a:t>
            </a:r>
            <a:r>
              <a:rPr lang="en-IN" dirty="0" err="1"/>
              <a:t>adc_port</a:t>
            </a:r>
            <a:r>
              <a:rPr lang="en-IN" dirty="0"/>
              <a:t>;	//Read ADC port</a:t>
            </a:r>
          </a:p>
          <a:p>
            <a:pPr marL="0" indent="0">
              <a:buNone/>
            </a:pPr>
            <a:r>
              <a:rPr lang="en-IN" dirty="0"/>
              <a:t>	</a:t>
            </a:r>
            <a:r>
              <a:rPr lang="en-IN" dirty="0" err="1"/>
              <a:t>rd</a:t>
            </a:r>
            <a:r>
              <a:rPr lang="en-IN" dirty="0"/>
              <a:t> = 1;			//Make RD high</a:t>
            </a:r>
          </a:p>
          <a:p>
            <a:pPr marL="0" indent="0">
              <a:buNone/>
            </a:pPr>
            <a:r>
              <a:rPr lang="en-IN" dirty="0"/>
              <a:t>	</a:t>
            </a:r>
            <a:r>
              <a:rPr lang="en-IN" dirty="0" err="1"/>
              <a:t>cs</a:t>
            </a:r>
            <a:r>
              <a:rPr lang="en-IN" dirty="0"/>
              <a:t> = 1;			//Make CS high</a:t>
            </a:r>
          </a:p>
          <a:p>
            <a:pPr marL="0" indent="0">
              <a:buNone/>
            </a:pPr>
            <a:r>
              <a:rPr lang="en-IN" dirty="0"/>
              <a:t>}</a:t>
            </a:r>
          </a:p>
          <a:p>
            <a:pPr marL="0" indent="0">
              <a:buNone/>
            </a:pPr>
            <a:endParaRPr lang="en-IN" dirty="0"/>
          </a:p>
          <a:p>
            <a:pPr marL="0" indent="0">
              <a:buNone/>
            </a:pPr>
            <a:r>
              <a:rPr lang="en-IN" dirty="0"/>
              <a:t>void main()</a:t>
            </a:r>
          </a:p>
          <a:p>
            <a:pPr marL="0" indent="0">
              <a:buNone/>
            </a:pPr>
            <a:r>
              <a:rPr lang="en-IN" dirty="0"/>
              <a:t>{</a:t>
            </a:r>
          </a:p>
          <a:p>
            <a:pPr marL="0" indent="0">
              <a:buNone/>
            </a:pPr>
            <a:r>
              <a:rPr lang="en-IN" dirty="0"/>
              <a:t>	char </a:t>
            </a:r>
            <a:r>
              <a:rPr lang="en-IN" dirty="0" err="1"/>
              <a:t>i</a:t>
            </a:r>
            <a:r>
              <a:rPr lang="en-IN" dirty="0"/>
              <a:t>;</a:t>
            </a:r>
          </a:p>
          <a:p>
            <a:pPr marL="0" indent="0">
              <a:buNone/>
            </a:pPr>
            <a:r>
              <a:rPr lang="en-IN" dirty="0"/>
              <a:t>	</a:t>
            </a:r>
            <a:r>
              <a:rPr lang="en-IN" dirty="0" err="1"/>
              <a:t>lcd_init</a:t>
            </a:r>
            <a:r>
              <a:rPr lang="en-IN" dirty="0"/>
              <a:t>();</a:t>
            </a:r>
          </a:p>
          <a:p>
            <a:pPr marL="0" indent="0">
              <a:buNone/>
            </a:pPr>
            <a:r>
              <a:rPr lang="en-IN" dirty="0"/>
              <a:t>	</a:t>
            </a:r>
            <a:r>
              <a:rPr lang="en-IN" dirty="0" err="1"/>
              <a:t>lcd_string</a:t>
            </a:r>
            <a:r>
              <a:rPr lang="en-IN" dirty="0"/>
              <a:t>("Voltmeter");</a:t>
            </a:r>
          </a:p>
          <a:p>
            <a:pPr marL="0" indent="0">
              <a:buNone/>
            </a:pPr>
            <a:r>
              <a:rPr lang="en-IN" dirty="0"/>
              <a:t>	while(1)</a:t>
            </a:r>
          </a:p>
          <a:p>
            <a:pPr marL="0" indent="0">
              <a:buNone/>
            </a:pPr>
            <a:r>
              <a:rPr lang="en-IN" dirty="0"/>
              <a:t>		{				//Forever loop</a:t>
            </a:r>
          </a:p>
          <a:p>
            <a:pPr marL="0" indent="0">
              <a:buNone/>
            </a:pPr>
            <a:r>
              <a:rPr lang="en-IN" dirty="0"/>
              <a:t>		</a:t>
            </a:r>
            <a:r>
              <a:rPr lang="en-IN" dirty="0" err="1"/>
              <a:t>adc_avg</a:t>
            </a:r>
            <a:r>
              <a:rPr lang="en-IN" dirty="0"/>
              <a:t> = 0;</a:t>
            </a:r>
          </a:p>
          <a:p>
            <a:pPr marL="0" indent="0">
              <a:buNone/>
            </a:pPr>
            <a:r>
              <a:rPr lang="en-IN" dirty="0"/>
              <a:t>		for(</a:t>
            </a:r>
            <a:r>
              <a:rPr lang="en-IN" dirty="0" err="1"/>
              <a:t>i</a:t>
            </a:r>
            <a:r>
              <a:rPr lang="en-IN" dirty="0"/>
              <a:t>=0;i&lt;10;i++)</a:t>
            </a:r>
          </a:p>
          <a:p>
            <a:pPr marL="0" indent="0">
              <a:buNone/>
            </a:pPr>
            <a:r>
              <a:rPr lang="en-IN" dirty="0"/>
              <a:t>		{</a:t>
            </a:r>
          </a:p>
          <a:p>
            <a:pPr marL="0" indent="0">
              <a:buNone/>
            </a:pPr>
            <a:r>
              <a:rPr lang="en-IN" dirty="0"/>
              <a:t>			conv();                  //Start conversion</a:t>
            </a:r>
          </a:p>
          <a:p>
            <a:pPr marL="0" indent="0">
              <a:buNone/>
            </a:pPr>
            <a:r>
              <a:rPr lang="en-IN" dirty="0"/>
              <a:t>			read();                  //Read ADC</a:t>
            </a:r>
          </a:p>
          <a:p>
            <a:pPr marL="0" indent="0">
              <a:buNone/>
            </a:pPr>
            <a:r>
              <a:rPr lang="en-IN" dirty="0"/>
              <a:t>			</a:t>
            </a:r>
            <a:r>
              <a:rPr lang="en-IN" dirty="0" err="1"/>
              <a:t>adc_avg</a:t>
            </a:r>
            <a:r>
              <a:rPr lang="en-IN" dirty="0"/>
              <a:t> += </a:t>
            </a:r>
            <a:r>
              <a:rPr lang="en-IN" dirty="0" err="1"/>
              <a:t>adc</a:t>
            </a:r>
            <a:r>
              <a:rPr lang="en-IN" dirty="0"/>
              <a:t>;</a:t>
            </a:r>
          </a:p>
          <a:p>
            <a:pPr marL="0" indent="0">
              <a:buNone/>
            </a:pPr>
            <a:r>
              <a:rPr lang="en-IN" dirty="0"/>
              <a:t>		}</a:t>
            </a:r>
          </a:p>
        </p:txBody>
      </p:sp>
    </p:spTree>
    <p:extLst>
      <p:ext uri="{BB962C8B-B14F-4D97-AF65-F5344CB8AC3E}">
        <p14:creationId xmlns:p14="http://schemas.microsoft.com/office/powerpoint/2010/main" val="42639420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3182"/>
            <a:ext cx="10515600" cy="6478073"/>
          </a:xfrm>
        </p:spPr>
        <p:txBody>
          <a:bodyPr>
            <a:normAutofit lnSpcReduction="10000"/>
          </a:bodyPr>
          <a:lstStyle/>
          <a:p>
            <a:pPr marL="0" indent="0">
              <a:buNone/>
            </a:pPr>
            <a:r>
              <a:rPr lang="en-IN" dirty="0" err="1"/>
              <a:t>adc_avg</a:t>
            </a:r>
            <a:r>
              <a:rPr lang="en-IN" dirty="0"/>
              <a:t> = </a:t>
            </a:r>
            <a:r>
              <a:rPr lang="en-IN" dirty="0" err="1"/>
              <a:t>adc_avg</a:t>
            </a:r>
            <a:r>
              <a:rPr lang="en-IN" dirty="0"/>
              <a:t>/10;</a:t>
            </a:r>
          </a:p>
          <a:p>
            <a:pPr marL="0" indent="0">
              <a:buNone/>
            </a:pPr>
            <a:r>
              <a:rPr lang="en-IN" dirty="0"/>
              <a:t>		</a:t>
            </a:r>
            <a:r>
              <a:rPr lang="en-IN" dirty="0" err="1"/>
              <a:t>lcd_cmd</a:t>
            </a:r>
            <a:r>
              <a:rPr lang="en-IN" dirty="0"/>
              <a:t>(0xc0);</a:t>
            </a:r>
          </a:p>
          <a:p>
            <a:pPr marL="0" indent="0">
              <a:buNone/>
            </a:pPr>
            <a:r>
              <a:rPr lang="en-IN" dirty="0"/>
              <a:t>		</a:t>
            </a:r>
            <a:r>
              <a:rPr lang="en-IN" dirty="0" err="1"/>
              <a:t>lcd_string</a:t>
            </a:r>
            <a:r>
              <a:rPr lang="en-IN" dirty="0"/>
              <a:t>("DC: ");</a:t>
            </a:r>
          </a:p>
          <a:p>
            <a:pPr marL="0" indent="0">
              <a:buNone/>
            </a:pPr>
            <a:r>
              <a:rPr lang="en-IN" dirty="0"/>
              <a:t>		</a:t>
            </a:r>
            <a:r>
              <a:rPr lang="en-IN" dirty="0" err="1"/>
              <a:t>adc</a:t>
            </a:r>
            <a:r>
              <a:rPr lang="en-IN" dirty="0"/>
              <a:t> = </a:t>
            </a:r>
            <a:r>
              <a:rPr lang="en-IN" dirty="0" err="1"/>
              <a:t>adc_avg</a:t>
            </a:r>
            <a:r>
              <a:rPr lang="en-IN" dirty="0"/>
              <a:t> * 59;</a:t>
            </a:r>
          </a:p>
          <a:p>
            <a:pPr marL="0" indent="0">
              <a:buNone/>
            </a:pPr>
            <a:endParaRPr lang="en-IN" dirty="0"/>
          </a:p>
          <a:p>
            <a:pPr marL="0" indent="0">
              <a:buNone/>
            </a:pPr>
            <a:r>
              <a:rPr lang="en-IN" dirty="0"/>
              <a:t>		hex2lcd((unsigned char)(</a:t>
            </a:r>
            <a:r>
              <a:rPr lang="en-IN" dirty="0" err="1"/>
              <a:t>adc</a:t>
            </a:r>
            <a:r>
              <a:rPr lang="en-IN" dirty="0"/>
              <a:t>/1000));</a:t>
            </a:r>
          </a:p>
          <a:p>
            <a:pPr marL="0" indent="0">
              <a:buNone/>
            </a:pPr>
            <a:r>
              <a:rPr lang="en-IN" dirty="0"/>
              <a:t>		</a:t>
            </a:r>
            <a:r>
              <a:rPr lang="en-IN" dirty="0" err="1"/>
              <a:t>lcd_data</a:t>
            </a:r>
            <a:r>
              <a:rPr lang="en-IN" dirty="0"/>
              <a:t>('.');</a:t>
            </a:r>
          </a:p>
          <a:p>
            <a:pPr marL="0" indent="0">
              <a:buNone/>
            </a:pPr>
            <a:r>
              <a:rPr lang="en-IN" dirty="0"/>
              <a:t>		</a:t>
            </a:r>
            <a:r>
              <a:rPr lang="en-IN" dirty="0" err="1"/>
              <a:t>adc</a:t>
            </a:r>
            <a:r>
              <a:rPr lang="en-IN" dirty="0"/>
              <a:t> = adc%1000;</a:t>
            </a:r>
          </a:p>
          <a:p>
            <a:pPr marL="0" indent="0">
              <a:buNone/>
            </a:pPr>
            <a:r>
              <a:rPr lang="en-IN" dirty="0"/>
              <a:t>		hex2lcd((unsigned char)(</a:t>
            </a:r>
            <a:r>
              <a:rPr lang="en-IN" dirty="0" err="1"/>
              <a:t>adc</a:t>
            </a:r>
            <a:r>
              <a:rPr lang="en-IN" dirty="0"/>
              <a:t>/10));</a:t>
            </a:r>
          </a:p>
          <a:p>
            <a:pPr marL="0" indent="0">
              <a:buNone/>
            </a:pPr>
            <a:endParaRPr lang="en-IN" dirty="0"/>
          </a:p>
          <a:p>
            <a:pPr marL="0" indent="0">
              <a:buNone/>
            </a:pPr>
            <a:r>
              <a:rPr lang="en-IN" dirty="0"/>
              <a:t>		</a:t>
            </a:r>
            <a:r>
              <a:rPr lang="en-IN" dirty="0" err="1"/>
              <a:t>lcd_data</a:t>
            </a:r>
            <a:r>
              <a:rPr lang="en-IN" dirty="0"/>
              <a:t>('V');</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4074593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1"/>
            <a:ext cx="11503742" cy="1312606"/>
          </a:xfrm>
        </p:spPr>
        <p:txBody>
          <a:bodyPr>
            <a:normAutofit/>
          </a:bodyPr>
          <a:lstStyle/>
          <a:p>
            <a:pPr algn="ctr"/>
            <a:r>
              <a:rPr lang="en-IN" sz="2800" b="1" dirty="0">
                <a:solidFill>
                  <a:srgbClr val="0070C0"/>
                </a:solidFill>
                <a:latin typeface="+mn-lt"/>
              </a:rPr>
              <a:t>REFERENCES</a:t>
            </a:r>
          </a:p>
        </p:txBody>
      </p:sp>
      <p:sp>
        <p:nvSpPr>
          <p:cNvPr id="3" name="Content Placeholder 2"/>
          <p:cNvSpPr>
            <a:spLocks noGrp="1"/>
          </p:cNvSpPr>
          <p:nvPr>
            <p:ph idx="1"/>
          </p:nvPr>
        </p:nvSpPr>
        <p:spPr>
          <a:xfrm>
            <a:off x="339213" y="1312606"/>
            <a:ext cx="11503742" cy="4864357"/>
          </a:xfrm>
        </p:spPr>
        <p:txBody>
          <a:bodyPr/>
          <a:lstStyle/>
          <a:p>
            <a:pPr lvl="0" algn="just"/>
            <a:r>
              <a:rPr lang="en-US" b="1" dirty="0">
                <a:solidFill>
                  <a:srgbClr val="00B050"/>
                </a:solidFill>
              </a:rPr>
              <a:t>The 8051 Microcontroller and Embedded Systems </a:t>
            </a:r>
            <a:endParaRPr lang="en-IN" b="1" dirty="0">
              <a:solidFill>
                <a:srgbClr val="00B050"/>
              </a:solidFill>
            </a:endParaRPr>
          </a:p>
          <a:p>
            <a:pPr marL="0" indent="0" algn="just">
              <a:buNone/>
            </a:pPr>
            <a:r>
              <a:rPr lang="en-US" b="1" dirty="0">
                <a:solidFill>
                  <a:srgbClr val="00B050"/>
                </a:solidFill>
              </a:rPr>
              <a:t>   by </a:t>
            </a:r>
            <a:r>
              <a:rPr lang="en-US" b="1" dirty="0">
                <a:solidFill>
                  <a:srgbClr val="00B050"/>
                </a:solidFill>
                <a:hlinkClick r:id="rId2"/>
              </a:rPr>
              <a:t>Muhammad Ali Mazidi</a:t>
            </a:r>
            <a:r>
              <a:rPr lang="en-US" b="1" dirty="0">
                <a:solidFill>
                  <a:srgbClr val="00B050"/>
                </a:solidFill>
              </a:rPr>
              <a:t>, </a:t>
            </a:r>
            <a:r>
              <a:rPr lang="en-US" b="1" dirty="0">
                <a:solidFill>
                  <a:srgbClr val="00B050"/>
                </a:solidFill>
                <a:hlinkClick r:id="rId3"/>
              </a:rPr>
              <a:t>Janice </a:t>
            </a:r>
            <a:r>
              <a:rPr lang="en-US" b="1" dirty="0" err="1">
                <a:solidFill>
                  <a:srgbClr val="00B050"/>
                </a:solidFill>
                <a:hlinkClick r:id="rId3"/>
              </a:rPr>
              <a:t>Gillispie</a:t>
            </a:r>
            <a:r>
              <a:rPr lang="en-US" b="1" dirty="0">
                <a:solidFill>
                  <a:srgbClr val="00B050"/>
                </a:solidFill>
                <a:hlinkClick r:id="rId3"/>
              </a:rPr>
              <a:t> </a:t>
            </a:r>
            <a:r>
              <a:rPr lang="en-US" b="1" dirty="0" err="1" smtClean="0">
                <a:solidFill>
                  <a:srgbClr val="00B050"/>
                </a:solidFill>
                <a:hlinkClick r:id="rId3"/>
              </a:rPr>
              <a:t>Mazidi</a:t>
            </a:r>
            <a:endParaRPr lang="en-US" b="1" dirty="0" smtClean="0">
              <a:solidFill>
                <a:srgbClr val="00B050"/>
              </a:solidFill>
            </a:endParaRPr>
          </a:p>
          <a:p>
            <a:pPr marL="0" indent="0" algn="just">
              <a:buNone/>
            </a:pPr>
            <a:endParaRPr lang="en-US" b="1" dirty="0" smtClean="0">
              <a:solidFill>
                <a:srgbClr val="00B050"/>
              </a:solidFill>
            </a:endParaRPr>
          </a:p>
          <a:p>
            <a:pPr algn="just"/>
            <a:r>
              <a:rPr lang="en-US" b="1" dirty="0" smtClean="0">
                <a:solidFill>
                  <a:srgbClr val="00B050"/>
                </a:solidFill>
              </a:rPr>
              <a:t>The 8051 Microcontroller By Ayala</a:t>
            </a:r>
            <a:endParaRPr lang="en-IN" b="1" dirty="0">
              <a:solidFill>
                <a:srgbClr val="00B050"/>
              </a:solidFill>
            </a:endParaRPr>
          </a:p>
          <a:p>
            <a:pPr marL="0" indent="0" algn="just">
              <a:buNone/>
            </a:pPr>
            <a:endParaRPr lang="en-IN" b="1" u="sng" dirty="0">
              <a:solidFill>
                <a:srgbClr val="00B050"/>
              </a:solidFill>
            </a:endParaRPr>
          </a:p>
        </p:txBody>
      </p:sp>
    </p:spTree>
    <p:extLst>
      <p:ext uri="{BB962C8B-B14F-4D97-AF65-F5344CB8AC3E}">
        <p14:creationId xmlns:p14="http://schemas.microsoft.com/office/powerpoint/2010/main" val="12473034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7877" y="1310302"/>
            <a:ext cx="6776245" cy="3807389"/>
          </a:xfrm>
        </p:spPr>
      </p:pic>
    </p:spTree>
    <p:extLst>
      <p:ext uri="{BB962C8B-B14F-4D97-AF65-F5344CB8AC3E}">
        <p14:creationId xmlns:p14="http://schemas.microsoft.com/office/powerpoint/2010/main" val="8586889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2399</Words>
  <Application>Microsoft Office PowerPoint</Application>
  <PresentationFormat>Widescreen</PresentationFormat>
  <Paragraphs>434</Paragraphs>
  <Slides>48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48</vt:i4>
      </vt:variant>
    </vt:vector>
  </HeadingPairs>
  <TitlesOfParts>
    <vt:vector size="55" baseType="lpstr">
      <vt:lpstr>Arial</vt:lpstr>
      <vt:lpstr>Calibri</vt:lpstr>
      <vt:lpstr>Calibri Light</vt:lpstr>
      <vt:lpstr>Times New Roman</vt:lpstr>
      <vt:lpstr>Wingdings</vt:lpstr>
      <vt:lpstr>Office Theme</vt:lpstr>
      <vt:lpstr>1_Office Theme</vt:lpstr>
      <vt:lpstr>DIGITAL VOLTMETER USING 8051  MICRO CONTROLLER</vt:lpstr>
      <vt:lpstr>CONTENT-1</vt:lpstr>
      <vt:lpstr>CONTENT-2</vt:lpstr>
      <vt:lpstr>DIGITAL VOLTMETER</vt:lpstr>
      <vt:lpstr>MICROCONTROLLER</vt:lpstr>
      <vt:lpstr>8051 MICROCONTROLLER</vt:lpstr>
      <vt:lpstr>PIN DIAGRAM OF 8051 MICROCONTROLLER</vt:lpstr>
      <vt:lpstr>PowerPoint Presentation</vt:lpstr>
      <vt:lpstr>PowerPoint Presentation</vt:lpstr>
      <vt:lpstr>PowerPoint Presentation</vt:lpstr>
      <vt:lpstr>PowerPoint Presentation</vt:lpstr>
      <vt:lpstr>CIRCUIT DIAGRAM OF DIGITAL VOLTMETER USING 8051 MICROCONTROLLER </vt:lpstr>
      <vt:lpstr>COMPONENTS REQUIRED IN THE CIRCUIT</vt:lpstr>
      <vt:lpstr>ANALOG TO DIGITAL CONVERTER(ADC0804)</vt:lpstr>
      <vt:lpstr>PowerPoint Presentation</vt:lpstr>
      <vt:lpstr>PowerPoint Presentation</vt:lpstr>
      <vt:lpstr>SUCCESSIVE APPROXIMATION TYPE ADC</vt:lpstr>
      <vt:lpstr>WORKING OF SUCCESSIVE APPROXIMATION ADC</vt:lpstr>
      <vt:lpstr>PowerPoint Presentation</vt:lpstr>
      <vt:lpstr>PowerPoint Presentation</vt:lpstr>
      <vt:lpstr>PowerPoint Presentation</vt:lpstr>
      <vt:lpstr>DIGITAL AC VOLTMETER</vt:lpstr>
      <vt:lpstr>CONVERTING CIRCUIT</vt:lpstr>
      <vt:lpstr>PowerPoint Presentation</vt:lpstr>
      <vt:lpstr>ADC INTERFACING</vt:lpstr>
      <vt:lpstr>PIN CONFIGURATION</vt:lpstr>
      <vt:lpstr>PowerPoint Presentation</vt:lpstr>
      <vt:lpstr>PowerPoint Presentation</vt:lpstr>
      <vt:lpstr>CLOCK SOURCE FOR ADC0804</vt:lpstr>
      <vt:lpstr>PowerPoint Presentation</vt:lpstr>
      <vt:lpstr>PowerPoint Presentation</vt:lpstr>
      <vt:lpstr>Programming of ADC0804 in C</vt:lpstr>
      <vt:lpstr>PowerPoint Presentation</vt:lpstr>
      <vt:lpstr>LCD INTERFACING</vt:lpstr>
      <vt:lpstr>PowerPoint Presentation</vt:lpstr>
      <vt:lpstr>PowerPoint Presentation</vt:lpstr>
      <vt:lpstr>PowerPoint Presentation</vt:lpstr>
      <vt:lpstr>PowerPoint Presentation</vt:lpstr>
      <vt:lpstr>LCD ADDRESSING</vt:lpstr>
      <vt:lpstr>Program for 8051 microcontroller</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VOLTMETER USING 8051  MICRO CONTROLLER</dc:title>
  <dc:creator>Chirag lakhani</dc:creator>
  <cp:lastModifiedBy>Chirag lakhani</cp:lastModifiedBy>
  <cp:revision>51</cp:revision>
  <dcterms:created xsi:type="dcterms:W3CDTF">2016-10-17T17:30:47Z</dcterms:created>
  <dcterms:modified xsi:type="dcterms:W3CDTF">2017-02-14T17:30:59Z</dcterms:modified>
</cp:coreProperties>
</file>